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Barlow Bold" charset="1" panose="00000800000000000000"/>
      <p:regular r:id="rId24"/>
    </p:embeddedFont>
    <p:embeddedFont>
      <p:font typeface="Roboto Mono" charset="1" panose="00000000000000000000"/>
      <p:regular r:id="rId25"/>
    </p:embeddedFont>
    <p:embeddedFont>
      <p:font typeface="Roboto Condensed Bold" charset="1" panose="02000000000000000000"/>
      <p:regular r:id="rId26"/>
    </p:embeddedFont>
    <p:embeddedFont>
      <p:font typeface="Roboto Condensed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8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5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8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39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40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94669" y="182757"/>
            <a:ext cx="17651924" cy="11760594"/>
          </a:xfrm>
          <a:custGeom>
            <a:avLst/>
            <a:gdLst/>
            <a:ahLst/>
            <a:cxnLst/>
            <a:rect r="r" b="b" t="t" l="l"/>
            <a:pathLst>
              <a:path h="11760594" w="17651924">
                <a:moveTo>
                  <a:pt x="0" y="0"/>
                </a:moveTo>
                <a:lnTo>
                  <a:pt x="17651924" y="0"/>
                </a:lnTo>
                <a:lnTo>
                  <a:pt x="17651924" y="11760594"/>
                </a:lnTo>
                <a:lnTo>
                  <a:pt x="0" y="11760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91920" y="0"/>
            <a:ext cx="3587812" cy="10287000"/>
            <a:chOff x="0" y="0"/>
            <a:chExt cx="2051117" cy="58809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1117" cy="5880976"/>
            </a:xfrm>
            <a:custGeom>
              <a:avLst/>
              <a:gdLst/>
              <a:ahLst/>
              <a:cxnLst/>
              <a:rect r="r" b="b" t="t" l="l"/>
              <a:pathLst>
                <a:path h="5880976" w="2051117">
                  <a:moveTo>
                    <a:pt x="0" y="0"/>
                  </a:moveTo>
                  <a:lnTo>
                    <a:pt x="2051117" y="0"/>
                  </a:lnTo>
                  <a:lnTo>
                    <a:pt x="2051117" y="5880976"/>
                  </a:lnTo>
                  <a:lnTo>
                    <a:pt x="0" y="5880976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51117" cy="5919076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745758" y="1051075"/>
            <a:ext cx="1680136" cy="464138"/>
          </a:xfrm>
          <a:custGeom>
            <a:avLst/>
            <a:gdLst/>
            <a:ahLst/>
            <a:cxnLst/>
            <a:rect r="r" b="b" t="t" l="l"/>
            <a:pathLst>
              <a:path h="464138" w="1680136">
                <a:moveTo>
                  <a:pt x="0" y="0"/>
                </a:moveTo>
                <a:lnTo>
                  <a:pt x="1680136" y="0"/>
                </a:lnTo>
                <a:lnTo>
                  <a:pt x="1680136" y="464138"/>
                </a:lnTo>
                <a:lnTo>
                  <a:pt x="0" y="46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489668" y="3176034"/>
            <a:ext cx="9872452" cy="2149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479"/>
              </a:lnSpc>
              <a:spcBef>
                <a:spcPct val="0"/>
              </a:spcBef>
            </a:pPr>
            <a:r>
              <a:rPr lang="en-US" b="true" sz="12485" spc="152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PR</a:t>
            </a:r>
            <a:r>
              <a:rPr lang="en-US" b="true" sz="12485" spc="152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OYE</a:t>
            </a:r>
            <a:r>
              <a:rPr lang="en-US" b="true" sz="12485" spc="1523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CTO</a:t>
            </a:r>
            <a:r>
              <a:rPr lang="en-US" b="true" sz="12485" spc="1523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7445" y="5500354"/>
            <a:ext cx="7456761" cy="112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sz="3244" spc="856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UNID</a:t>
            </a:r>
            <a:r>
              <a:rPr lang="en-US" sz="3244" spc="85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AD TERRITO</a:t>
            </a:r>
            <a:r>
              <a:rPr lang="en-US" sz="3244" spc="856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RIA</a:t>
            </a:r>
            <a:r>
              <a:rPr lang="en-US" sz="3244" spc="85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 </a:t>
            </a:r>
            <a:r>
              <a:rPr lang="en-US" sz="3244" spc="856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JUN</a:t>
            </a:r>
            <a:r>
              <a:rPr lang="en-US" sz="3244" spc="856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 DE VECI</a:t>
            </a:r>
            <a:r>
              <a:rPr lang="en-US" sz="3244" spc="856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NOS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69434" y="7215296"/>
            <a:ext cx="2632783" cy="113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1738" spc="13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Presentado por Vincenzo Orellana</a:t>
            </a:r>
          </a:p>
          <a:p>
            <a:pPr algn="ctr">
              <a:lnSpc>
                <a:spcPts val="2294"/>
              </a:lnSpc>
            </a:pPr>
            <a:r>
              <a:rPr lang="en-US" sz="1738" spc="13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Nicolás Lizama</a:t>
            </a:r>
          </a:p>
          <a:p>
            <a:pPr algn="ctr" marL="0" indent="0" lvl="0">
              <a:lnSpc>
                <a:spcPts val="2294"/>
              </a:lnSpc>
            </a:pPr>
            <a:r>
              <a:rPr lang="en-US" sz="1738" spc="13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Daniel Reyes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69434" y="8874729"/>
            <a:ext cx="2632783" cy="849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4"/>
              </a:lnSpc>
            </a:pPr>
            <a:r>
              <a:rPr lang="en-US" sz="1738" spc="13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Capstone 709V</a:t>
            </a:r>
          </a:p>
          <a:p>
            <a:pPr algn="ctr">
              <a:lnSpc>
                <a:spcPts val="2294"/>
              </a:lnSpc>
            </a:pPr>
            <a:r>
              <a:rPr lang="en-US" sz="1738" spc="13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Profesor: </a:t>
            </a:r>
          </a:p>
          <a:p>
            <a:pPr algn="ctr" marL="0" indent="0" lvl="0">
              <a:lnSpc>
                <a:spcPts val="2294"/>
              </a:lnSpc>
            </a:pPr>
            <a:r>
              <a:rPr lang="en-US" sz="1738" spc="133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Jorge Guzman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7445" y="1467444"/>
            <a:ext cx="7456761" cy="58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1"/>
              </a:lnSpc>
              <a:spcBef>
                <a:spcPct val="0"/>
              </a:spcBef>
            </a:pPr>
            <a:r>
              <a:rPr lang="en-US" sz="3444" spc="909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DUOC-UC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3721589"/>
            <a:ext cx="9848117" cy="6565411"/>
          </a:xfrm>
          <a:custGeom>
            <a:avLst/>
            <a:gdLst/>
            <a:ahLst/>
            <a:cxnLst/>
            <a:rect r="r" b="b" t="t" l="l"/>
            <a:pathLst>
              <a:path h="6565411" w="9848117">
                <a:moveTo>
                  <a:pt x="9848117" y="0"/>
                </a:moveTo>
                <a:lnTo>
                  <a:pt x="0" y="0"/>
                </a:lnTo>
                <a:lnTo>
                  <a:pt x="0" y="6565411"/>
                </a:lnTo>
                <a:lnTo>
                  <a:pt x="9848117" y="6565411"/>
                </a:lnTo>
                <a:lnTo>
                  <a:pt x="984811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4724942" y="9258300"/>
            <a:ext cx="2534358" cy="347744"/>
            <a:chOff x="0" y="0"/>
            <a:chExt cx="1448868" cy="1988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8868" cy="198802"/>
            </a:xfrm>
            <a:custGeom>
              <a:avLst/>
              <a:gdLst/>
              <a:ahLst/>
              <a:cxnLst/>
              <a:rect r="r" b="b" t="t" l="l"/>
              <a:pathLst>
                <a:path h="198802" w="1448868">
                  <a:moveTo>
                    <a:pt x="0" y="0"/>
                  </a:moveTo>
                  <a:lnTo>
                    <a:pt x="1448868" y="0"/>
                  </a:lnTo>
                  <a:lnTo>
                    <a:pt x="1448868" y="198802"/>
                  </a:lnTo>
                  <a:lnTo>
                    <a:pt x="0" y="1988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48868" cy="236902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82850" y="1574389"/>
            <a:ext cx="10338290" cy="15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65"/>
              </a:lnSpc>
              <a:spcBef>
                <a:spcPct val="0"/>
              </a:spcBef>
            </a:pPr>
            <a:r>
              <a:rPr lang="en-US" b="true" sz="9260" spc="1129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PROBLEMATICA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6339" y="3285861"/>
            <a:ext cx="14356864" cy="323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La gestión actual de las juntas de vecinos es manual y desordenada. Esto causa retrasos, d</a:t>
            </a: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esorganización y una comunicación ineficiente con los residentes. Las juntas de vecinos, que son fundamentales para la comunidad, son las organizaciones más desatendidas en el uso de la tecnología.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3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92000"/>
          </a:xfrm>
          <a:custGeom>
            <a:avLst/>
            <a:gdLst/>
            <a:ahLst/>
            <a:cxnLst/>
            <a:rect r="r" b="b" t="t" l="l"/>
            <a:pathLst>
              <a:path h="12192000" w="18288000">
                <a:moveTo>
                  <a:pt x="0" y="0"/>
                </a:moveTo>
                <a:lnTo>
                  <a:pt x="18288000" y="0"/>
                </a:lnTo>
                <a:lnTo>
                  <a:pt x="18288000" y="12192000"/>
                </a:lnTo>
                <a:lnTo>
                  <a:pt x="0" y="121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19671" y="2350680"/>
            <a:ext cx="13048659" cy="6455789"/>
            <a:chOff x="0" y="0"/>
            <a:chExt cx="3436684" cy="17002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36684" cy="1700290"/>
            </a:xfrm>
            <a:custGeom>
              <a:avLst/>
              <a:gdLst/>
              <a:ahLst/>
              <a:cxnLst/>
              <a:rect r="r" b="b" t="t" l="l"/>
              <a:pathLst>
                <a:path h="1700290" w="3436684">
                  <a:moveTo>
                    <a:pt x="0" y="0"/>
                  </a:moveTo>
                  <a:lnTo>
                    <a:pt x="3436684" y="0"/>
                  </a:lnTo>
                  <a:lnTo>
                    <a:pt x="3436684" y="1700290"/>
                  </a:lnTo>
                  <a:lnTo>
                    <a:pt x="0" y="1700290"/>
                  </a:ln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36684" cy="17383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235261" y="3879518"/>
            <a:ext cx="11686051" cy="301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23"/>
              </a:lnSpc>
            </a:pPr>
            <a:r>
              <a:rPr lang="en-US" sz="2873" spc="17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S</a:t>
            </a:r>
            <a:r>
              <a:rPr lang="en-US" sz="2873" spc="17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istema de gestión digital que centralizará procesos como la inscripción de vecinos, la emisión de certificados de residencia y la gestión de proyectos y reservas. El sistema será una plataforma web adaptable, robusta y movil, mejorando la transparencia y optimizando la comunicación.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112146" y="6906809"/>
            <a:ext cx="800678" cy="2154679"/>
            <a:chOff x="0" y="0"/>
            <a:chExt cx="457740" cy="12318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740" cy="1231809"/>
            </a:xfrm>
            <a:custGeom>
              <a:avLst/>
              <a:gdLst/>
              <a:ahLst/>
              <a:cxnLst/>
              <a:rect r="r" b="b" t="t" l="l"/>
              <a:pathLst>
                <a:path h="1231809" w="457740">
                  <a:moveTo>
                    <a:pt x="0" y="0"/>
                  </a:moveTo>
                  <a:lnTo>
                    <a:pt x="457740" y="0"/>
                  </a:lnTo>
                  <a:lnTo>
                    <a:pt x="457740" y="1231809"/>
                  </a:lnTo>
                  <a:lnTo>
                    <a:pt x="0" y="1231809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57740" cy="1269909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43750" y="2130499"/>
            <a:ext cx="800678" cy="2154679"/>
            <a:chOff x="0" y="0"/>
            <a:chExt cx="457740" cy="12318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7740" cy="1231809"/>
            </a:xfrm>
            <a:custGeom>
              <a:avLst/>
              <a:gdLst/>
              <a:ahLst/>
              <a:cxnLst/>
              <a:rect r="r" b="b" t="t" l="l"/>
              <a:pathLst>
                <a:path h="1231809" w="457740">
                  <a:moveTo>
                    <a:pt x="0" y="0"/>
                  </a:moveTo>
                  <a:lnTo>
                    <a:pt x="457740" y="0"/>
                  </a:lnTo>
                  <a:lnTo>
                    <a:pt x="457740" y="1231809"/>
                  </a:lnTo>
                  <a:lnTo>
                    <a:pt x="0" y="1231809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7740" cy="1269909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981650" y="2325328"/>
            <a:ext cx="10324701" cy="158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965"/>
              </a:lnSpc>
              <a:spcBef>
                <a:spcPct val="0"/>
              </a:spcBef>
            </a:pPr>
            <a:r>
              <a:rPr lang="en-US" b="true" sz="9261" spc="1129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S</a:t>
            </a:r>
            <a:r>
              <a:rPr lang="en-US" b="true" sz="9261" spc="1129" strike="noStrike" u="none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OLUCIÓN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30209" y="-1628048"/>
            <a:ext cx="10641798" cy="11915048"/>
          </a:xfrm>
          <a:custGeom>
            <a:avLst/>
            <a:gdLst/>
            <a:ahLst/>
            <a:cxnLst/>
            <a:rect r="r" b="b" t="t" l="l"/>
            <a:pathLst>
              <a:path h="11915048" w="10641798">
                <a:moveTo>
                  <a:pt x="0" y="0"/>
                </a:moveTo>
                <a:lnTo>
                  <a:pt x="10641798" y="0"/>
                </a:lnTo>
                <a:lnTo>
                  <a:pt x="10641798" y="11915048"/>
                </a:lnTo>
                <a:lnTo>
                  <a:pt x="0" y="1191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607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80875" y="6898570"/>
            <a:ext cx="1959418" cy="2404992"/>
            <a:chOff x="0" y="0"/>
            <a:chExt cx="1120180" cy="1374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0180" cy="1374910"/>
            </a:xfrm>
            <a:custGeom>
              <a:avLst/>
              <a:gdLst/>
              <a:ahLst/>
              <a:cxnLst/>
              <a:rect r="r" b="b" t="t" l="l"/>
              <a:pathLst>
                <a:path h="1374910" w="1120180">
                  <a:moveTo>
                    <a:pt x="0" y="0"/>
                  </a:moveTo>
                  <a:lnTo>
                    <a:pt x="1120180" y="0"/>
                  </a:lnTo>
                  <a:lnTo>
                    <a:pt x="1120180" y="1374910"/>
                  </a:lnTo>
                  <a:lnTo>
                    <a:pt x="0" y="137491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20180" cy="1413010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0187" y="983438"/>
            <a:ext cx="1959418" cy="2404992"/>
            <a:chOff x="0" y="0"/>
            <a:chExt cx="1120180" cy="13749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0180" cy="1374910"/>
            </a:xfrm>
            <a:custGeom>
              <a:avLst/>
              <a:gdLst/>
              <a:ahLst/>
              <a:cxnLst/>
              <a:rect r="r" b="b" t="t" l="l"/>
              <a:pathLst>
                <a:path h="1374910" w="1120180">
                  <a:moveTo>
                    <a:pt x="0" y="0"/>
                  </a:moveTo>
                  <a:lnTo>
                    <a:pt x="1120180" y="0"/>
                  </a:lnTo>
                  <a:lnTo>
                    <a:pt x="1120180" y="1374910"/>
                  </a:lnTo>
                  <a:lnTo>
                    <a:pt x="0" y="137491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0180" cy="1413010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7354" y="1227739"/>
            <a:ext cx="10012355" cy="7710607"/>
            <a:chOff x="0" y="0"/>
            <a:chExt cx="2636999" cy="2030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6999" cy="2030777"/>
            </a:xfrm>
            <a:custGeom>
              <a:avLst/>
              <a:gdLst/>
              <a:ahLst/>
              <a:cxnLst/>
              <a:rect r="r" b="b" t="t" l="l"/>
              <a:pathLst>
                <a:path h="2030777" w="2636999">
                  <a:moveTo>
                    <a:pt x="0" y="0"/>
                  </a:moveTo>
                  <a:lnTo>
                    <a:pt x="2636999" y="0"/>
                  </a:lnTo>
                  <a:lnTo>
                    <a:pt x="2636999" y="2030777"/>
                  </a:lnTo>
                  <a:lnTo>
                    <a:pt x="0" y="2030777"/>
                  </a:ln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6999" cy="2068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71740" y="1887936"/>
            <a:ext cx="8888844" cy="90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93"/>
              </a:lnSpc>
              <a:spcBef>
                <a:spcPct val="0"/>
              </a:spcBef>
            </a:pPr>
            <a:r>
              <a:rPr lang="en-US" b="true" sz="5281" spc="644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OBJETIVO GENERAL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7927" y="3076353"/>
            <a:ext cx="9171209" cy="531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257"/>
              </a:lnSpc>
              <a:spcBef>
                <a:spcPct val="0"/>
              </a:spcBef>
            </a:pPr>
            <a:r>
              <a:rPr lang="en-US" sz="3041" spc="18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Mej</a:t>
            </a:r>
            <a:r>
              <a:rPr lang="en-US" sz="3041" spc="18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orar la gestión administrativa, comunicacional y organizativa de una junta de vecinos mediante el desarrollo de un sistema web responsivo y/o aplicación móvil, que centralice procesos clave como inscripción de vecinos, emisión de certificados de residencia, gestión de proyectos vecinales, reservas de espacios y comunicación con la comunidad.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785113" y="-3359962"/>
            <a:ext cx="5135476" cy="4114800"/>
          </a:xfrm>
          <a:custGeom>
            <a:avLst/>
            <a:gdLst/>
            <a:ahLst/>
            <a:cxnLst/>
            <a:rect r="r" b="b" t="t" l="l"/>
            <a:pathLst>
              <a:path h="4114800" w="5135476">
                <a:moveTo>
                  <a:pt x="0" y="0"/>
                </a:moveTo>
                <a:lnTo>
                  <a:pt x="5135476" y="0"/>
                </a:lnTo>
                <a:lnTo>
                  <a:pt x="51354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30209" y="-1628048"/>
            <a:ext cx="10641798" cy="11915048"/>
          </a:xfrm>
          <a:custGeom>
            <a:avLst/>
            <a:gdLst/>
            <a:ahLst/>
            <a:cxnLst/>
            <a:rect r="r" b="b" t="t" l="l"/>
            <a:pathLst>
              <a:path h="11915048" w="10641798">
                <a:moveTo>
                  <a:pt x="0" y="0"/>
                </a:moveTo>
                <a:lnTo>
                  <a:pt x="10641798" y="0"/>
                </a:lnTo>
                <a:lnTo>
                  <a:pt x="10641798" y="11915048"/>
                </a:lnTo>
                <a:lnTo>
                  <a:pt x="0" y="1191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607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80875" y="6898570"/>
            <a:ext cx="1959418" cy="2404992"/>
            <a:chOff x="0" y="0"/>
            <a:chExt cx="1120180" cy="1374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0180" cy="1374910"/>
            </a:xfrm>
            <a:custGeom>
              <a:avLst/>
              <a:gdLst/>
              <a:ahLst/>
              <a:cxnLst/>
              <a:rect r="r" b="b" t="t" l="l"/>
              <a:pathLst>
                <a:path h="1374910" w="1120180">
                  <a:moveTo>
                    <a:pt x="0" y="0"/>
                  </a:moveTo>
                  <a:lnTo>
                    <a:pt x="1120180" y="0"/>
                  </a:lnTo>
                  <a:lnTo>
                    <a:pt x="1120180" y="1374910"/>
                  </a:lnTo>
                  <a:lnTo>
                    <a:pt x="0" y="137491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20180" cy="1413010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0187" y="983438"/>
            <a:ext cx="1959418" cy="2404992"/>
            <a:chOff x="0" y="0"/>
            <a:chExt cx="1120180" cy="13749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0180" cy="1374910"/>
            </a:xfrm>
            <a:custGeom>
              <a:avLst/>
              <a:gdLst/>
              <a:ahLst/>
              <a:cxnLst/>
              <a:rect r="r" b="b" t="t" l="l"/>
              <a:pathLst>
                <a:path h="1374910" w="1120180">
                  <a:moveTo>
                    <a:pt x="0" y="0"/>
                  </a:moveTo>
                  <a:lnTo>
                    <a:pt x="1120180" y="0"/>
                  </a:lnTo>
                  <a:lnTo>
                    <a:pt x="1120180" y="1374910"/>
                  </a:lnTo>
                  <a:lnTo>
                    <a:pt x="0" y="137491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0180" cy="1413010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7354" y="1227739"/>
            <a:ext cx="10012355" cy="7710607"/>
            <a:chOff x="0" y="0"/>
            <a:chExt cx="2636999" cy="2030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6999" cy="2030777"/>
            </a:xfrm>
            <a:custGeom>
              <a:avLst/>
              <a:gdLst/>
              <a:ahLst/>
              <a:cxnLst/>
              <a:rect r="r" b="b" t="t" l="l"/>
              <a:pathLst>
                <a:path h="2030777" w="2636999">
                  <a:moveTo>
                    <a:pt x="0" y="0"/>
                  </a:moveTo>
                  <a:lnTo>
                    <a:pt x="2636999" y="0"/>
                  </a:lnTo>
                  <a:lnTo>
                    <a:pt x="2636999" y="2030777"/>
                  </a:lnTo>
                  <a:lnTo>
                    <a:pt x="0" y="2030777"/>
                  </a:ln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6999" cy="2068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785113" y="-3359962"/>
            <a:ext cx="5135476" cy="4114800"/>
          </a:xfrm>
          <a:custGeom>
            <a:avLst/>
            <a:gdLst/>
            <a:ahLst/>
            <a:cxnLst/>
            <a:rect r="r" b="b" t="t" l="l"/>
            <a:pathLst>
              <a:path h="4114800" w="5135476">
                <a:moveTo>
                  <a:pt x="0" y="0"/>
                </a:moveTo>
                <a:lnTo>
                  <a:pt x="5135476" y="0"/>
                </a:lnTo>
                <a:lnTo>
                  <a:pt x="51354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1740" y="1887936"/>
            <a:ext cx="8888844" cy="90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93"/>
              </a:lnSpc>
              <a:spcBef>
                <a:spcPct val="0"/>
              </a:spcBef>
            </a:pPr>
            <a:r>
              <a:rPr lang="en-US" b="true" sz="5281" spc="644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ALCANCES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350330"/>
            <a:ext cx="9171209" cy="3255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nscripción de vecinos.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</a:t>
            </a: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misión de certificados de residencia.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Postulación y gestión de proyectos vecinales.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Reserva de espacios comunitarios.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Noticias y avisos con fechas de vigencia.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 strike="noStrike" u="non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Notificaciones por afiche digital, email y WhatsApp.</a:t>
            </a:r>
          </a:p>
          <a:p>
            <a:pPr algn="just">
              <a:lnSpc>
                <a:spcPts val="32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30209" y="-1628048"/>
            <a:ext cx="10641798" cy="11915048"/>
          </a:xfrm>
          <a:custGeom>
            <a:avLst/>
            <a:gdLst/>
            <a:ahLst/>
            <a:cxnLst/>
            <a:rect r="r" b="b" t="t" l="l"/>
            <a:pathLst>
              <a:path h="11915048" w="10641798">
                <a:moveTo>
                  <a:pt x="0" y="0"/>
                </a:moveTo>
                <a:lnTo>
                  <a:pt x="10641798" y="0"/>
                </a:lnTo>
                <a:lnTo>
                  <a:pt x="10641798" y="11915048"/>
                </a:lnTo>
                <a:lnTo>
                  <a:pt x="0" y="119150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6607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080875" y="6898570"/>
            <a:ext cx="1959418" cy="2404992"/>
            <a:chOff x="0" y="0"/>
            <a:chExt cx="1120180" cy="13749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0180" cy="1374910"/>
            </a:xfrm>
            <a:custGeom>
              <a:avLst/>
              <a:gdLst/>
              <a:ahLst/>
              <a:cxnLst/>
              <a:rect r="r" b="b" t="t" l="l"/>
              <a:pathLst>
                <a:path h="1374910" w="1120180">
                  <a:moveTo>
                    <a:pt x="0" y="0"/>
                  </a:moveTo>
                  <a:lnTo>
                    <a:pt x="1120180" y="0"/>
                  </a:lnTo>
                  <a:lnTo>
                    <a:pt x="1120180" y="1374910"/>
                  </a:lnTo>
                  <a:lnTo>
                    <a:pt x="0" y="137491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20180" cy="1413010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0187" y="983438"/>
            <a:ext cx="1959418" cy="2404992"/>
            <a:chOff x="0" y="0"/>
            <a:chExt cx="1120180" cy="13749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0180" cy="1374910"/>
            </a:xfrm>
            <a:custGeom>
              <a:avLst/>
              <a:gdLst/>
              <a:ahLst/>
              <a:cxnLst/>
              <a:rect r="r" b="b" t="t" l="l"/>
              <a:pathLst>
                <a:path h="1374910" w="1120180">
                  <a:moveTo>
                    <a:pt x="0" y="0"/>
                  </a:moveTo>
                  <a:lnTo>
                    <a:pt x="1120180" y="0"/>
                  </a:lnTo>
                  <a:lnTo>
                    <a:pt x="1120180" y="1374910"/>
                  </a:lnTo>
                  <a:lnTo>
                    <a:pt x="0" y="1374910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0180" cy="1413010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7354" y="1227739"/>
            <a:ext cx="10012355" cy="7710607"/>
            <a:chOff x="0" y="0"/>
            <a:chExt cx="2636999" cy="20307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36999" cy="2030777"/>
            </a:xfrm>
            <a:custGeom>
              <a:avLst/>
              <a:gdLst/>
              <a:ahLst/>
              <a:cxnLst/>
              <a:rect r="r" b="b" t="t" l="l"/>
              <a:pathLst>
                <a:path h="2030777" w="2636999">
                  <a:moveTo>
                    <a:pt x="0" y="0"/>
                  </a:moveTo>
                  <a:lnTo>
                    <a:pt x="2636999" y="0"/>
                  </a:lnTo>
                  <a:lnTo>
                    <a:pt x="2636999" y="2030777"/>
                  </a:lnTo>
                  <a:lnTo>
                    <a:pt x="0" y="2030777"/>
                  </a:lnTo>
                  <a:close/>
                </a:path>
              </a:pathLst>
            </a:custGeom>
            <a:solidFill>
              <a:srgbClr val="F3F5F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636999" cy="2068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2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-785113" y="-3359962"/>
            <a:ext cx="5135476" cy="4114800"/>
          </a:xfrm>
          <a:custGeom>
            <a:avLst/>
            <a:gdLst/>
            <a:ahLst/>
            <a:cxnLst/>
            <a:rect r="r" b="b" t="t" l="l"/>
            <a:pathLst>
              <a:path h="4114800" w="5135476">
                <a:moveTo>
                  <a:pt x="0" y="0"/>
                </a:moveTo>
                <a:lnTo>
                  <a:pt x="5135476" y="0"/>
                </a:lnTo>
                <a:lnTo>
                  <a:pt x="51354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7311" y="2081159"/>
            <a:ext cx="8888844" cy="90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93"/>
              </a:lnSpc>
              <a:spcBef>
                <a:spcPct val="0"/>
              </a:spcBef>
            </a:pPr>
            <a:r>
              <a:rPr lang="en-US" b="true" sz="5281" spc="644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LIMITACIONES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272" y="2958923"/>
            <a:ext cx="9171209" cy="16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5463" indent="-252732" lvl="1">
              <a:lnSpc>
                <a:spcPts val="3277"/>
              </a:lnSpc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Limitaciones físicas</a:t>
            </a:r>
          </a:p>
          <a:p>
            <a:pPr algn="just" marL="505463" indent="-252732" lvl="1">
              <a:lnSpc>
                <a:spcPts val="3277"/>
              </a:lnSpc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Capacidad de la directiva</a:t>
            </a:r>
          </a:p>
          <a:p>
            <a:pPr algn="just" marL="505463" indent="-252732" lvl="1">
              <a:lnSpc>
                <a:spcPts val="3277"/>
              </a:lnSpc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Adopción del sistema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Resistencia al cambio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1740" y="5490257"/>
            <a:ext cx="8888844" cy="907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393"/>
              </a:lnSpc>
              <a:spcBef>
                <a:spcPct val="0"/>
              </a:spcBef>
            </a:pPr>
            <a:r>
              <a:rPr lang="en-US" b="true" sz="5281" spc="644">
                <a:solidFill>
                  <a:srgbClr val="000000"/>
                </a:solidFill>
                <a:latin typeface="Barlow Bold"/>
                <a:ea typeface="Barlow Bold"/>
                <a:cs typeface="Barlow Bold"/>
                <a:sym typeface="Barlow Bold"/>
              </a:rPr>
              <a:t>ALCANCES FUTUROS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368022"/>
            <a:ext cx="9171209" cy="161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05463" indent="-252732" lvl="1">
              <a:lnSpc>
                <a:spcPts val="3277"/>
              </a:lnSpc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Integración con sistemas municipales externos.</a:t>
            </a:r>
          </a:p>
          <a:p>
            <a:pPr algn="just" marL="505463" indent="-252732" lvl="1">
              <a:lnSpc>
                <a:spcPts val="3277"/>
              </a:lnSpc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Pago en línea para reservas o cuotas.</a:t>
            </a:r>
          </a:p>
          <a:p>
            <a:pPr algn="just" marL="505463" indent="-252732" lvl="1">
              <a:lnSpc>
                <a:spcPts val="3277"/>
              </a:lnSpc>
              <a:spcBef>
                <a:spcPct val="0"/>
              </a:spcBef>
              <a:buFont typeface="Arial"/>
              <a:buChar char="•"/>
            </a:pPr>
            <a:r>
              <a:rPr lang="en-US" sz="2341" spc="14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Aplicación móvil nativa (la prioridad es web responsiva).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75" y="8510838"/>
            <a:ext cx="4332914" cy="5416143"/>
          </a:xfrm>
          <a:custGeom>
            <a:avLst/>
            <a:gdLst/>
            <a:ahLst/>
            <a:cxnLst/>
            <a:rect r="r" b="b" t="t" l="l"/>
            <a:pathLst>
              <a:path h="5416143" w="4332914">
                <a:moveTo>
                  <a:pt x="0" y="0"/>
                </a:moveTo>
                <a:lnTo>
                  <a:pt x="4332914" y="0"/>
                </a:lnTo>
                <a:lnTo>
                  <a:pt x="4332914" y="5416143"/>
                </a:lnTo>
                <a:lnTo>
                  <a:pt x="0" y="5416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7159" y="1168521"/>
            <a:ext cx="14833682" cy="8955835"/>
          </a:xfrm>
          <a:custGeom>
            <a:avLst/>
            <a:gdLst/>
            <a:ahLst/>
            <a:cxnLst/>
            <a:rect r="r" b="b" t="t" l="l"/>
            <a:pathLst>
              <a:path h="8955835" w="14833682">
                <a:moveTo>
                  <a:pt x="0" y="0"/>
                </a:moveTo>
                <a:lnTo>
                  <a:pt x="14833682" y="0"/>
                </a:lnTo>
                <a:lnTo>
                  <a:pt x="14833682" y="8955835"/>
                </a:lnTo>
                <a:lnTo>
                  <a:pt x="0" y="8955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2211" y="166241"/>
            <a:ext cx="8143577" cy="86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2"/>
              </a:lnSpc>
              <a:spcBef>
                <a:spcPct val="0"/>
              </a:spcBef>
            </a:pPr>
            <a:r>
              <a:rPr lang="en-US" b="true" sz="5044" spc="615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PROCESOS DE NEGOCIO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75" y="8510838"/>
            <a:ext cx="4332914" cy="5416143"/>
          </a:xfrm>
          <a:custGeom>
            <a:avLst/>
            <a:gdLst/>
            <a:ahLst/>
            <a:cxnLst/>
            <a:rect r="r" b="b" t="t" l="l"/>
            <a:pathLst>
              <a:path h="5416143" w="4332914">
                <a:moveTo>
                  <a:pt x="0" y="0"/>
                </a:moveTo>
                <a:lnTo>
                  <a:pt x="4332914" y="0"/>
                </a:lnTo>
                <a:lnTo>
                  <a:pt x="4332914" y="5416143"/>
                </a:lnTo>
                <a:lnTo>
                  <a:pt x="0" y="5416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5608" y="1610037"/>
            <a:ext cx="16536785" cy="7648263"/>
          </a:xfrm>
          <a:custGeom>
            <a:avLst/>
            <a:gdLst/>
            <a:ahLst/>
            <a:cxnLst/>
            <a:rect r="r" b="b" t="t" l="l"/>
            <a:pathLst>
              <a:path h="7648263" w="16536785">
                <a:moveTo>
                  <a:pt x="0" y="0"/>
                </a:moveTo>
                <a:lnTo>
                  <a:pt x="16536784" y="0"/>
                </a:lnTo>
                <a:lnTo>
                  <a:pt x="16536784" y="7648263"/>
                </a:lnTo>
                <a:lnTo>
                  <a:pt x="0" y="76482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2211" y="577830"/>
            <a:ext cx="8143577" cy="86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2"/>
              </a:lnSpc>
              <a:spcBef>
                <a:spcPct val="0"/>
              </a:spcBef>
            </a:pPr>
            <a:r>
              <a:rPr lang="en-US" b="true" sz="5044" spc="615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PROCESOS DE NEGOCIO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75" y="8510838"/>
            <a:ext cx="4332914" cy="5416143"/>
          </a:xfrm>
          <a:custGeom>
            <a:avLst/>
            <a:gdLst/>
            <a:ahLst/>
            <a:cxnLst/>
            <a:rect r="r" b="b" t="t" l="l"/>
            <a:pathLst>
              <a:path h="5416143" w="4332914">
                <a:moveTo>
                  <a:pt x="0" y="0"/>
                </a:moveTo>
                <a:lnTo>
                  <a:pt x="4332914" y="0"/>
                </a:lnTo>
                <a:lnTo>
                  <a:pt x="4332914" y="5416143"/>
                </a:lnTo>
                <a:lnTo>
                  <a:pt x="0" y="5416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64900" y="1542454"/>
            <a:ext cx="14558200" cy="7715846"/>
          </a:xfrm>
          <a:custGeom>
            <a:avLst/>
            <a:gdLst/>
            <a:ahLst/>
            <a:cxnLst/>
            <a:rect r="r" b="b" t="t" l="l"/>
            <a:pathLst>
              <a:path h="7715846" w="14558200">
                <a:moveTo>
                  <a:pt x="0" y="0"/>
                </a:moveTo>
                <a:lnTo>
                  <a:pt x="14558200" y="0"/>
                </a:lnTo>
                <a:lnTo>
                  <a:pt x="14558200" y="7715846"/>
                </a:lnTo>
                <a:lnTo>
                  <a:pt x="0" y="77158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2211" y="433093"/>
            <a:ext cx="8143577" cy="86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62"/>
              </a:lnSpc>
              <a:spcBef>
                <a:spcPct val="0"/>
              </a:spcBef>
            </a:pPr>
            <a:r>
              <a:rPr lang="en-US" b="true" sz="5044" spc="615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PROCESOS DE NEGOCIO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4789" y="522845"/>
            <a:ext cx="17651924" cy="11760594"/>
          </a:xfrm>
          <a:custGeom>
            <a:avLst/>
            <a:gdLst/>
            <a:ahLst/>
            <a:cxnLst/>
            <a:rect r="r" b="b" t="t" l="l"/>
            <a:pathLst>
              <a:path h="11760594" w="17651924">
                <a:moveTo>
                  <a:pt x="0" y="0"/>
                </a:moveTo>
                <a:lnTo>
                  <a:pt x="17651923" y="0"/>
                </a:lnTo>
                <a:lnTo>
                  <a:pt x="17651923" y="11760594"/>
                </a:lnTo>
                <a:lnTo>
                  <a:pt x="0" y="11760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45758" y="1051075"/>
            <a:ext cx="1680136" cy="464138"/>
          </a:xfrm>
          <a:custGeom>
            <a:avLst/>
            <a:gdLst/>
            <a:ahLst/>
            <a:cxnLst/>
            <a:rect r="r" b="b" t="t" l="l"/>
            <a:pathLst>
              <a:path h="464138" w="1680136">
                <a:moveTo>
                  <a:pt x="0" y="0"/>
                </a:moveTo>
                <a:lnTo>
                  <a:pt x="1680136" y="0"/>
                </a:lnTo>
                <a:lnTo>
                  <a:pt x="1680136" y="464138"/>
                </a:lnTo>
                <a:lnTo>
                  <a:pt x="0" y="464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164839"/>
            <a:ext cx="10866383" cy="4746529"/>
          </a:xfrm>
          <a:custGeom>
            <a:avLst/>
            <a:gdLst/>
            <a:ahLst/>
            <a:cxnLst/>
            <a:rect r="r" b="b" t="t" l="l"/>
            <a:pathLst>
              <a:path h="4746529" w="10866383">
                <a:moveTo>
                  <a:pt x="0" y="0"/>
                </a:moveTo>
                <a:lnTo>
                  <a:pt x="10866383" y="0"/>
                </a:lnTo>
                <a:lnTo>
                  <a:pt x="10866383" y="4746529"/>
                </a:lnTo>
                <a:lnTo>
                  <a:pt x="0" y="4746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651" t="-1273" r="0" b="-12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26843" y="479701"/>
            <a:ext cx="10338290" cy="3225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65"/>
              </a:lnSpc>
              <a:spcBef>
                <a:spcPct val="0"/>
              </a:spcBef>
            </a:pPr>
            <a:r>
              <a:rPr lang="en-US" b="true" sz="9260" spc="1129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METODOLOGIA SCRUMBAN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128" y="5657639"/>
            <a:ext cx="1159006" cy="4954684"/>
            <a:chOff x="0" y="0"/>
            <a:chExt cx="662592" cy="2832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2592" cy="2832544"/>
            </a:xfrm>
            <a:custGeom>
              <a:avLst/>
              <a:gdLst/>
              <a:ahLst/>
              <a:cxnLst/>
              <a:rect r="r" b="b" t="t" l="l"/>
              <a:pathLst>
                <a:path h="2832544" w="662592">
                  <a:moveTo>
                    <a:pt x="0" y="0"/>
                  </a:moveTo>
                  <a:lnTo>
                    <a:pt x="662592" y="0"/>
                  </a:lnTo>
                  <a:lnTo>
                    <a:pt x="662592" y="2832544"/>
                  </a:lnTo>
                  <a:lnTo>
                    <a:pt x="0" y="2832544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2592" cy="2870644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4290" y="1753363"/>
            <a:ext cx="16817786" cy="7504937"/>
          </a:xfrm>
          <a:custGeom>
            <a:avLst/>
            <a:gdLst/>
            <a:ahLst/>
            <a:cxnLst/>
            <a:rect r="r" b="b" t="t" l="l"/>
            <a:pathLst>
              <a:path h="7504937" w="16817786">
                <a:moveTo>
                  <a:pt x="0" y="0"/>
                </a:moveTo>
                <a:lnTo>
                  <a:pt x="16817785" y="0"/>
                </a:lnTo>
                <a:lnTo>
                  <a:pt x="16817785" y="7504937"/>
                </a:lnTo>
                <a:lnTo>
                  <a:pt x="0" y="75049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404051" y="522581"/>
            <a:ext cx="5479898" cy="700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01"/>
              </a:lnSpc>
              <a:spcBef>
                <a:spcPct val="0"/>
              </a:spcBef>
            </a:pPr>
            <a:r>
              <a:rPr lang="en-US" b="true" sz="4000" spc="488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PRODUCT BACKLOG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8128" y="5657639"/>
            <a:ext cx="1159006" cy="4954684"/>
            <a:chOff x="0" y="0"/>
            <a:chExt cx="662592" cy="28325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2592" cy="2832544"/>
            </a:xfrm>
            <a:custGeom>
              <a:avLst/>
              <a:gdLst/>
              <a:ahLst/>
              <a:cxnLst/>
              <a:rect r="r" b="b" t="t" l="l"/>
              <a:pathLst>
                <a:path h="2832544" w="662592">
                  <a:moveTo>
                    <a:pt x="0" y="0"/>
                  </a:moveTo>
                  <a:lnTo>
                    <a:pt x="662592" y="0"/>
                  </a:lnTo>
                  <a:lnTo>
                    <a:pt x="662592" y="2832544"/>
                  </a:lnTo>
                  <a:lnTo>
                    <a:pt x="0" y="2832544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2592" cy="2870644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49141" y="1416354"/>
            <a:ext cx="6065038" cy="8482571"/>
          </a:xfrm>
          <a:custGeom>
            <a:avLst/>
            <a:gdLst/>
            <a:ahLst/>
            <a:cxnLst/>
            <a:rect r="r" b="b" t="t" l="l"/>
            <a:pathLst>
              <a:path h="8482571" w="6065038">
                <a:moveTo>
                  <a:pt x="0" y="0"/>
                </a:moveTo>
                <a:lnTo>
                  <a:pt x="6065038" y="0"/>
                </a:lnTo>
                <a:lnTo>
                  <a:pt x="6065038" y="8482571"/>
                </a:lnTo>
                <a:lnTo>
                  <a:pt x="0" y="8482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41659" y="1416354"/>
            <a:ext cx="6035497" cy="8485761"/>
          </a:xfrm>
          <a:custGeom>
            <a:avLst/>
            <a:gdLst/>
            <a:ahLst/>
            <a:cxnLst/>
            <a:rect r="r" b="b" t="t" l="l"/>
            <a:pathLst>
              <a:path h="8485761" w="6035497">
                <a:moveTo>
                  <a:pt x="0" y="0"/>
                </a:moveTo>
                <a:lnTo>
                  <a:pt x="6035497" y="0"/>
                </a:lnTo>
                <a:lnTo>
                  <a:pt x="6035497" y="8485760"/>
                </a:lnTo>
                <a:lnTo>
                  <a:pt x="0" y="84857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8592" y="330221"/>
            <a:ext cx="7830815" cy="698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01"/>
              </a:lnSpc>
              <a:spcBef>
                <a:spcPct val="0"/>
              </a:spcBef>
            </a:pPr>
            <a:r>
              <a:rPr lang="en-US" b="true" sz="4000" spc="488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HISTORIAS DE USUARIO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7876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0572" y="6582021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8089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55247" y="6582021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37231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56107"/>
            <a:ext cx="5933725" cy="924672"/>
          </a:xfrm>
          <a:custGeom>
            <a:avLst/>
            <a:gdLst/>
            <a:ahLst/>
            <a:cxnLst/>
            <a:rect r="r" b="b" t="t" l="l"/>
            <a:pathLst>
              <a:path h="924672" w="5933725">
                <a:moveTo>
                  <a:pt x="0" y="0"/>
                </a:moveTo>
                <a:lnTo>
                  <a:pt x="5933725" y="0"/>
                </a:lnTo>
                <a:lnTo>
                  <a:pt x="5933725" y="924672"/>
                </a:lnTo>
                <a:lnTo>
                  <a:pt x="0" y="92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71693" y="1303459"/>
            <a:ext cx="5616307" cy="634175"/>
          </a:xfrm>
          <a:custGeom>
            <a:avLst/>
            <a:gdLst/>
            <a:ahLst/>
            <a:cxnLst/>
            <a:rect r="r" b="b" t="t" l="l"/>
            <a:pathLst>
              <a:path h="634175" w="5616307">
                <a:moveTo>
                  <a:pt x="0" y="0"/>
                </a:moveTo>
                <a:lnTo>
                  <a:pt x="5616307" y="0"/>
                </a:lnTo>
                <a:lnTo>
                  <a:pt x="5616307" y="634175"/>
                </a:lnTo>
                <a:lnTo>
                  <a:pt x="0" y="63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15237" y="865632"/>
            <a:ext cx="7056457" cy="19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7ED957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TECNOLOGIAS UTILIZADAS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52338" y="3368900"/>
            <a:ext cx="3163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999" spc="199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BACKEND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45034" y="7030879"/>
            <a:ext cx="3163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999" spc="199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DESPLIEGUE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62551" y="3368900"/>
            <a:ext cx="3163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999" spc="199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FRONTEND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41699" y="6677271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999" spc="199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CONTROL DE VERSIONES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71693" y="3368900"/>
            <a:ext cx="3163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sz="3999" spc="199">
                <a:solidFill>
                  <a:srgbClr val="7ED957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BASE DATOS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079364" y="4519703"/>
            <a:ext cx="1909918" cy="1909918"/>
          </a:xfrm>
          <a:custGeom>
            <a:avLst/>
            <a:gdLst/>
            <a:ahLst/>
            <a:cxnLst/>
            <a:rect r="r" b="b" t="t" l="l"/>
            <a:pathLst>
              <a:path h="1909918" w="1909918">
                <a:moveTo>
                  <a:pt x="0" y="0"/>
                </a:moveTo>
                <a:lnTo>
                  <a:pt x="1909917" y="0"/>
                </a:lnTo>
                <a:lnTo>
                  <a:pt x="1909917" y="1909918"/>
                </a:lnTo>
                <a:lnTo>
                  <a:pt x="0" y="190991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13851" y="3936590"/>
            <a:ext cx="2798340" cy="2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  <a:spcBef>
                <a:spcPct val="0"/>
              </a:spcBef>
            </a:pPr>
            <a:r>
              <a:rPr lang="en-US" sz="1462" spc="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Python/FastAPI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52331" y="4538300"/>
            <a:ext cx="1780789" cy="1872723"/>
          </a:xfrm>
          <a:custGeom>
            <a:avLst/>
            <a:gdLst/>
            <a:ahLst/>
            <a:cxnLst/>
            <a:rect r="r" b="b" t="t" l="l"/>
            <a:pathLst>
              <a:path h="1872723" w="1780789">
                <a:moveTo>
                  <a:pt x="0" y="0"/>
                </a:moveTo>
                <a:lnTo>
                  <a:pt x="1780790" y="0"/>
                </a:lnTo>
                <a:lnTo>
                  <a:pt x="1780790" y="1872723"/>
                </a:lnTo>
                <a:lnTo>
                  <a:pt x="0" y="18727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744295" y="3936590"/>
            <a:ext cx="2798340" cy="2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  <a:spcBef>
                <a:spcPct val="0"/>
              </a:spcBef>
            </a:pPr>
            <a:r>
              <a:rPr lang="en-US" sz="1462" spc="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Angular - Tailwind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293608" y="4430976"/>
            <a:ext cx="2024119" cy="2087372"/>
          </a:xfrm>
          <a:custGeom>
            <a:avLst/>
            <a:gdLst/>
            <a:ahLst/>
            <a:cxnLst/>
            <a:rect r="r" b="b" t="t" l="l"/>
            <a:pathLst>
              <a:path h="2087372" w="2024119">
                <a:moveTo>
                  <a:pt x="0" y="0"/>
                </a:moveTo>
                <a:lnTo>
                  <a:pt x="2024119" y="0"/>
                </a:lnTo>
                <a:lnTo>
                  <a:pt x="2024119" y="2087372"/>
                </a:lnTo>
                <a:lnTo>
                  <a:pt x="0" y="20873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906497" y="3936590"/>
            <a:ext cx="2798340" cy="2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  <a:spcBef>
                <a:spcPct val="0"/>
              </a:spcBef>
            </a:pPr>
            <a:r>
              <a:rPr lang="en-US" sz="1462" spc="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PostgreSQL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890169" y="8218877"/>
            <a:ext cx="1854126" cy="1854126"/>
          </a:xfrm>
          <a:custGeom>
            <a:avLst/>
            <a:gdLst/>
            <a:ahLst/>
            <a:cxnLst/>
            <a:rect r="r" b="b" t="t" l="l"/>
            <a:pathLst>
              <a:path h="1854126" w="1854126">
                <a:moveTo>
                  <a:pt x="0" y="0"/>
                </a:moveTo>
                <a:lnTo>
                  <a:pt x="1854126" y="0"/>
                </a:lnTo>
                <a:lnTo>
                  <a:pt x="1854126" y="1854125"/>
                </a:lnTo>
                <a:lnTo>
                  <a:pt x="0" y="18541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27849" y="7668696"/>
            <a:ext cx="2798340" cy="2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  <a:spcBef>
                <a:spcPct val="0"/>
              </a:spcBef>
            </a:pPr>
            <a:r>
              <a:rPr lang="en-US" sz="1462" spc="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Cloud Run/GCloud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806145" y="8152202"/>
            <a:ext cx="1835076" cy="1835076"/>
          </a:xfrm>
          <a:custGeom>
            <a:avLst/>
            <a:gdLst/>
            <a:ahLst/>
            <a:cxnLst/>
            <a:rect r="r" b="b" t="t" l="l"/>
            <a:pathLst>
              <a:path h="1835076" w="1835076">
                <a:moveTo>
                  <a:pt x="0" y="0"/>
                </a:moveTo>
                <a:lnTo>
                  <a:pt x="1835076" y="0"/>
                </a:lnTo>
                <a:lnTo>
                  <a:pt x="1835076" y="1835075"/>
                </a:lnTo>
                <a:lnTo>
                  <a:pt x="0" y="1835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272523" y="7753596"/>
            <a:ext cx="2798340" cy="2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7"/>
              </a:lnSpc>
              <a:spcBef>
                <a:spcPct val="0"/>
              </a:spcBef>
            </a:pPr>
            <a:r>
              <a:rPr lang="en-US" sz="1462" spc="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Git/gitflow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23" t="-429" r="-11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4945" y="9167365"/>
            <a:ext cx="9653403" cy="11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2"/>
              </a:lnSpc>
              <a:spcBef>
                <a:spcPct val="0"/>
              </a:spcBef>
            </a:pPr>
            <a:r>
              <a:rPr lang="en-US" b="true" sz="6544" spc="798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MODELO DE DATOS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75" y="8510838"/>
            <a:ext cx="4332914" cy="5416143"/>
          </a:xfrm>
          <a:custGeom>
            <a:avLst/>
            <a:gdLst/>
            <a:ahLst/>
            <a:cxnLst/>
            <a:rect r="r" b="b" t="t" l="l"/>
            <a:pathLst>
              <a:path h="5416143" w="4332914">
                <a:moveTo>
                  <a:pt x="0" y="0"/>
                </a:moveTo>
                <a:lnTo>
                  <a:pt x="4332914" y="0"/>
                </a:lnTo>
                <a:lnTo>
                  <a:pt x="4332914" y="5416143"/>
                </a:lnTo>
                <a:lnTo>
                  <a:pt x="0" y="5416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28571" y="1567013"/>
            <a:ext cx="8410194" cy="8084299"/>
          </a:xfrm>
          <a:custGeom>
            <a:avLst/>
            <a:gdLst/>
            <a:ahLst/>
            <a:cxnLst/>
            <a:rect r="r" b="b" t="t" l="l"/>
            <a:pathLst>
              <a:path h="8084299" w="8410194">
                <a:moveTo>
                  <a:pt x="0" y="0"/>
                </a:moveTo>
                <a:lnTo>
                  <a:pt x="8410193" y="0"/>
                </a:lnTo>
                <a:lnTo>
                  <a:pt x="8410193" y="8084299"/>
                </a:lnTo>
                <a:lnTo>
                  <a:pt x="0" y="80842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27304" y="250242"/>
            <a:ext cx="5812726" cy="11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2"/>
              </a:lnSpc>
              <a:spcBef>
                <a:spcPct val="0"/>
              </a:spcBef>
            </a:pPr>
            <a:r>
              <a:rPr lang="en-US" b="true" sz="6544" spc="798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EVIDENCIAS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75" y="8510838"/>
            <a:ext cx="4332914" cy="5416143"/>
          </a:xfrm>
          <a:custGeom>
            <a:avLst/>
            <a:gdLst/>
            <a:ahLst/>
            <a:cxnLst/>
            <a:rect r="r" b="b" t="t" l="l"/>
            <a:pathLst>
              <a:path h="5416143" w="4332914">
                <a:moveTo>
                  <a:pt x="0" y="0"/>
                </a:moveTo>
                <a:lnTo>
                  <a:pt x="4332914" y="0"/>
                </a:lnTo>
                <a:lnTo>
                  <a:pt x="4332914" y="5416143"/>
                </a:lnTo>
                <a:lnTo>
                  <a:pt x="0" y="5416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97330" y="1369877"/>
            <a:ext cx="11272675" cy="8102235"/>
          </a:xfrm>
          <a:custGeom>
            <a:avLst/>
            <a:gdLst/>
            <a:ahLst/>
            <a:cxnLst/>
            <a:rect r="r" b="b" t="t" l="l"/>
            <a:pathLst>
              <a:path h="8102235" w="11272675">
                <a:moveTo>
                  <a:pt x="0" y="0"/>
                </a:moveTo>
                <a:lnTo>
                  <a:pt x="11272675" y="0"/>
                </a:lnTo>
                <a:lnTo>
                  <a:pt x="11272675" y="8102236"/>
                </a:lnTo>
                <a:lnTo>
                  <a:pt x="0" y="8102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27304" y="250242"/>
            <a:ext cx="5812726" cy="11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2"/>
              </a:lnSpc>
              <a:spcBef>
                <a:spcPct val="0"/>
              </a:spcBef>
            </a:pPr>
            <a:r>
              <a:rPr lang="en-US" b="true" sz="6544" spc="798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EVIDENCIAS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1675" y="8510838"/>
            <a:ext cx="4332914" cy="5416143"/>
          </a:xfrm>
          <a:custGeom>
            <a:avLst/>
            <a:gdLst/>
            <a:ahLst/>
            <a:cxnLst/>
            <a:rect r="r" b="b" t="t" l="l"/>
            <a:pathLst>
              <a:path h="5416143" w="4332914">
                <a:moveTo>
                  <a:pt x="0" y="0"/>
                </a:moveTo>
                <a:lnTo>
                  <a:pt x="4332914" y="0"/>
                </a:lnTo>
                <a:lnTo>
                  <a:pt x="4332914" y="5416143"/>
                </a:lnTo>
                <a:lnTo>
                  <a:pt x="0" y="5416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92123" y="1728479"/>
            <a:ext cx="14303754" cy="6830042"/>
          </a:xfrm>
          <a:custGeom>
            <a:avLst/>
            <a:gdLst/>
            <a:ahLst/>
            <a:cxnLst/>
            <a:rect r="r" b="b" t="t" l="l"/>
            <a:pathLst>
              <a:path h="6830042" w="14303754">
                <a:moveTo>
                  <a:pt x="0" y="0"/>
                </a:moveTo>
                <a:lnTo>
                  <a:pt x="14303754" y="0"/>
                </a:lnTo>
                <a:lnTo>
                  <a:pt x="14303754" y="6830042"/>
                </a:lnTo>
                <a:lnTo>
                  <a:pt x="0" y="6830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27304" y="250242"/>
            <a:ext cx="5812726" cy="111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162"/>
              </a:lnSpc>
              <a:spcBef>
                <a:spcPct val="0"/>
              </a:spcBef>
            </a:pPr>
            <a:r>
              <a:rPr lang="en-US" b="true" sz="6544" spc="798">
                <a:solidFill>
                  <a:srgbClr val="41CA6A"/>
                </a:solidFill>
                <a:latin typeface="Barlow Bold"/>
                <a:ea typeface="Barlow Bold"/>
                <a:cs typeface="Barlow Bold"/>
                <a:sym typeface="Barlow Bold"/>
              </a:rPr>
              <a:t>EVIDENCIAS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6514741"/>
            <a:ext cx="5658388" cy="3772259"/>
          </a:xfrm>
          <a:custGeom>
            <a:avLst/>
            <a:gdLst/>
            <a:ahLst/>
            <a:cxnLst/>
            <a:rect r="r" b="b" t="t" l="l"/>
            <a:pathLst>
              <a:path h="3772259" w="5658388">
                <a:moveTo>
                  <a:pt x="5658388" y="0"/>
                </a:moveTo>
                <a:lnTo>
                  <a:pt x="0" y="0"/>
                </a:lnTo>
                <a:lnTo>
                  <a:pt x="0" y="3772259"/>
                </a:lnTo>
                <a:lnTo>
                  <a:pt x="5658388" y="3772259"/>
                </a:lnTo>
                <a:lnTo>
                  <a:pt x="565838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4724942" y="9258300"/>
            <a:ext cx="2534358" cy="347744"/>
            <a:chOff x="0" y="0"/>
            <a:chExt cx="1448868" cy="1988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48868" cy="198802"/>
            </a:xfrm>
            <a:custGeom>
              <a:avLst/>
              <a:gdLst/>
              <a:ahLst/>
              <a:cxnLst/>
              <a:rect r="r" b="b" t="t" l="l"/>
              <a:pathLst>
                <a:path h="198802" w="1448868">
                  <a:moveTo>
                    <a:pt x="0" y="0"/>
                  </a:moveTo>
                  <a:lnTo>
                    <a:pt x="1448868" y="0"/>
                  </a:lnTo>
                  <a:lnTo>
                    <a:pt x="1448868" y="198802"/>
                  </a:lnTo>
                  <a:lnTo>
                    <a:pt x="0" y="198802"/>
                  </a:lnTo>
                  <a:close/>
                </a:path>
              </a:pathLst>
            </a:custGeom>
            <a:solidFill>
              <a:srgbClr val="7ED95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48868" cy="236902"/>
            </a:xfrm>
            <a:prstGeom prst="rect">
              <a:avLst/>
            </a:prstGeom>
          </p:spPr>
          <p:txBody>
            <a:bodyPr anchor="ctr" rtlCol="false" tIns="31845" lIns="31845" bIns="31845" rIns="31845"/>
            <a:lstStyle/>
            <a:p>
              <a:pPr algn="ctr">
                <a:lnSpc>
                  <a:spcPts val="1228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282850" y="1574389"/>
            <a:ext cx="15315478" cy="1585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65"/>
              </a:lnSpc>
              <a:spcBef>
                <a:spcPct val="0"/>
              </a:spcBef>
            </a:pPr>
            <a:r>
              <a:rPr lang="en-US" b="true" sz="9260" spc="1129">
                <a:solidFill>
                  <a:srgbClr val="7ED957"/>
                </a:solidFill>
                <a:latin typeface="Barlow Bold"/>
                <a:ea typeface="Barlow Bold"/>
                <a:cs typeface="Barlow Bold"/>
                <a:sym typeface="Barlow Bold"/>
              </a:rPr>
              <a:t>PORTAFOLIO DE TÍTULO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62157" y="4194435"/>
            <a:ext cx="14356864" cy="541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8"/>
              </a:lnSpc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ngeniería Informática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Escuela d</a:t>
            </a: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e Informática y Telecomunicaciones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Sede Maipú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2025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Docente Instructor de la Asignatura: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Jorge Guzmán Bozo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Integrantes del Equipo: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Nicolas Lizama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Vincenzo Orellana</a:t>
            </a:r>
          </a:p>
          <a:p>
            <a:pPr algn="ctr">
              <a:lnSpc>
                <a:spcPts val="4308"/>
              </a:lnSpc>
              <a:spcBef>
                <a:spcPct val="0"/>
              </a:spcBef>
            </a:pPr>
            <a:r>
              <a:rPr lang="en-US" sz="3099" spc="238">
                <a:solidFill>
                  <a:srgbClr val="7ED957"/>
                </a:solidFill>
                <a:latin typeface="Roboto Mono"/>
                <a:ea typeface="Roboto Mono"/>
                <a:cs typeface="Roboto Mono"/>
                <a:sym typeface="Roboto Mono"/>
              </a:rPr>
              <a:t>Daniel Reyes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061260" y="0"/>
            <a:ext cx="4226740" cy="1056685"/>
          </a:xfrm>
          <a:custGeom>
            <a:avLst/>
            <a:gdLst/>
            <a:ahLst/>
            <a:cxnLst/>
            <a:rect r="r" b="b" t="t" l="l"/>
            <a:pathLst>
              <a:path h="1056685" w="4226740">
                <a:moveTo>
                  <a:pt x="0" y="0"/>
                </a:moveTo>
                <a:lnTo>
                  <a:pt x="4226740" y="0"/>
                </a:lnTo>
                <a:lnTo>
                  <a:pt x="4226740" y="1056685"/>
                </a:lnTo>
                <a:lnTo>
                  <a:pt x="0" y="1056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0654" y="3074537"/>
            <a:ext cx="1157987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b="true" sz="3999" spc="487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UNIDAD TERRITORIAL JUNTA DE VECINOS</a:t>
            </a:r>
          </a:p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DAGxZG2knFY</dc:identifier>
  <dcterms:modified xsi:type="dcterms:W3CDTF">2011-08-01T06:04:30Z</dcterms:modified>
  <cp:revision>1</cp:revision>
  <dc:title>Presentación proyecto de arquitectura minimalista estructurado blanco y negro</dc:title>
</cp:coreProperties>
</file>