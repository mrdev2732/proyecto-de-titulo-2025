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x="18288000" cy="10287000"/>
  <p:notesSz cx="6858000" cy="9144000"/>
  <p:embeddedFontLst>
    <p:embeddedFont>
      <p:font typeface="Barlow Bold" charset="1" panose="00000800000000000000"/>
      <p:regular r:id="rId24"/>
    </p:embeddedFont>
    <p:embeddedFont>
      <p:font typeface="Roboto Mono" charset="1" panose="00000000000000000000"/>
      <p:regular r:id="rId25"/>
    </p:embeddedFont>
    <p:embeddedFont>
      <p:font typeface="Roboto Condensed Bold" charset="1" panose="02000000000000000000"/>
      <p:regular r:id="rId26"/>
    </p:embeddedFont>
    <p:embeddedFont>
      <p:font typeface="Roboto Condensed" charset="1" panose="02000000000000000000"/>
      <p:regular r:id="rId2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fonts/font24.fntdata" Type="http://schemas.openxmlformats.org/officeDocument/2006/relationships/font"/><Relationship Id="rId25" Target="fonts/font25.fntdata" Type="http://schemas.openxmlformats.org/officeDocument/2006/relationships/font"/><Relationship Id="rId26" Target="fonts/font26.fntdata" Type="http://schemas.openxmlformats.org/officeDocument/2006/relationships/font"/><Relationship Id="rId27" Target="fonts/font27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Relationship Id="rId3" Target="../media/image7.svg" Type="http://schemas.openxmlformats.org/officeDocument/2006/relationships/image"/><Relationship Id="rId4" Target="../media/image5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Relationship Id="rId3" Target="../media/image9.svg" Type="http://schemas.openxmlformats.org/officeDocument/2006/relationships/image"/><Relationship Id="rId4" Target="../media/image5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0.png" Type="http://schemas.openxmlformats.org/officeDocument/2006/relationships/image"/><Relationship Id="rId3" Target="../media/image11.svg" Type="http://schemas.openxmlformats.org/officeDocument/2006/relationships/image"/><Relationship Id="rId4" Target="../media/image12.png" Type="http://schemas.openxmlformats.org/officeDocument/2006/relationships/image"/><Relationship Id="rId5" Target="../media/image13.svg" Type="http://schemas.openxmlformats.org/officeDocument/2006/relationships/image"/><Relationship Id="rId6" Target="../media/image5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0.png" Type="http://schemas.openxmlformats.org/officeDocument/2006/relationships/image"/><Relationship Id="rId3" Target="../media/image11.svg" Type="http://schemas.openxmlformats.org/officeDocument/2006/relationships/image"/><Relationship Id="rId4" Target="../media/image12.png" Type="http://schemas.openxmlformats.org/officeDocument/2006/relationships/image"/><Relationship Id="rId5" Target="../media/image13.svg" Type="http://schemas.openxmlformats.org/officeDocument/2006/relationships/image"/><Relationship Id="rId6" Target="../media/image5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0.png" Type="http://schemas.openxmlformats.org/officeDocument/2006/relationships/image"/><Relationship Id="rId3" Target="../media/image11.svg" Type="http://schemas.openxmlformats.org/officeDocument/2006/relationships/image"/><Relationship Id="rId4" Target="../media/image12.png" Type="http://schemas.openxmlformats.org/officeDocument/2006/relationships/image"/><Relationship Id="rId5" Target="../media/image13.svg" Type="http://schemas.openxmlformats.org/officeDocument/2006/relationships/image"/><Relationship Id="rId6" Target="../media/image5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4.png" Type="http://schemas.openxmlformats.org/officeDocument/2006/relationships/image"/><Relationship Id="rId3" Target="../media/image15.svg" Type="http://schemas.openxmlformats.org/officeDocument/2006/relationships/image"/><Relationship Id="rId4" Target="../media/image16.png" Type="http://schemas.openxmlformats.org/officeDocument/2006/relationships/image"/><Relationship Id="rId5" Target="../media/image5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4.png" Type="http://schemas.openxmlformats.org/officeDocument/2006/relationships/image"/><Relationship Id="rId3" Target="../media/image15.svg" Type="http://schemas.openxmlformats.org/officeDocument/2006/relationships/image"/><Relationship Id="rId4" Target="../media/image17.png" Type="http://schemas.openxmlformats.org/officeDocument/2006/relationships/image"/><Relationship Id="rId5" Target="../media/image5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4.png" Type="http://schemas.openxmlformats.org/officeDocument/2006/relationships/image"/><Relationship Id="rId3" Target="../media/image15.svg" Type="http://schemas.openxmlformats.org/officeDocument/2006/relationships/image"/><Relationship Id="rId4" Target="../media/image18.png" Type="http://schemas.openxmlformats.org/officeDocument/2006/relationships/image"/><Relationship Id="rId5" Target="../media/image5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19.png" Type="http://schemas.openxmlformats.org/officeDocument/2006/relationships/image"/><Relationship Id="rId7" Target="../media/image5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0.png" Type="http://schemas.openxmlformats.org/officeDocument/2006/relationships/image"/><Relationship Id="rId3" Target="../media/image5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1.png" Type="http://schemas.openxmlformats.org/officeDocument/2006/relationships/image"/><Relationship Id="rId3" Target="../media/image22.png" Type="http://schemas.openxmlformats.org/officeDocument/2006/relationships/image"/><Relationship Id="rId4" Target="../media/image5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1.png" Type="http://schemas.openxmlformats.org/officeDocument/2006/relationships/image"/><Relationship Id="rId11" Target="../media/image32.svg" Type="http://schemas.openxmlformats.org/officeDocument/2006/relationships/image"/><Relationship Id="rId12" Target="../media/image33.png" Type="http://schemas.openxmlformats.org/officeDocument/2006/relationships/image"/><Relationship Id="rId13" Target="../media/image34.png" Type="http://schemas.openxmlformats.org/officeDocument/2006/relationships/image"/><Relationship Id="rId14" Target="../media/image35.png" Type="http://schemas.openxmlformats.org/officeDocument/2006/relationships/image"/><Relationship Id="rId15" Target="../media/image36.svg" Type="http://schemas.openxmlformats.org/officeDocument/2006/relationships/image"/><Relationship Id="rId16" Target="../media/image5.png" Type="http://schemas.openxmlformats.org/officeDocument/2006/relationships/image"/><Relationship Id="rId2" Target="../media/image23.png" Type="http://schemas.openxmlformats.org/officeDocument/2006/relationships/image"/><Relationship Id="rId3" Target="../media/image24.svg" Type="http://schemas.openxmlformats.org/officeDocument/2006/relationships/image"/><Relationship Id="rId4" Target="../media/image25.png" Type="http://schemas.openxmlformats.org/officeDocument/2006/relationships/image"/><Relationship Id="rId5" Target="../media/image26.svg" Type="http://schemas.openxmlformats.org/officeDocument/2006/relationships/image"/><Relationship Id="rId6" Target="../media/image27.png" Type="http://schemas.openxmlformats.org/officeDocument/2006/relationships/image"/><Relationship Id="rId7" Target="../media/image28.svg" Type="http://schemas.openxmlformats.org/officeDocument/2006/relationships/image"/><Relationship Id="rId8" Target="../media/image29.png" Type="http://schemas.openxmlformats.org/officeDocument/2006/relationships/image"/><Relationship Id="rId9" Target="../media/image30.sv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7.pn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4.png" Type="http://schemas.openxmlformats.org/officeDocument/2006/relationships/image"/><Relationship Id="rId3" Target="../media/image15.svg" Type="http://schemas.openxmlformats.org/officeDocument/2006/relationships/image"/><Relationship Id="rId4" Target="../media/image38.png" Type="http://schemas.openxmlformats.org/officeDocument/2006/relationships/image"/><Relationship Id="rId5" Target="../media/image5.pn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4.png" Type="http://schemas.openxmlformats.org/officeDocument/2006/relationships/image"/><Relationship Id="rId3" Target="../media/image15.svg" Type="http://schemas.openxmlformats.org/officeDocument/2006/relationships/image"/><Relationship Id="rId4" Target="../media/image39.png" Type="http://schemas.openxmlformats.org/officeDocument/2006/relationships/image"/><Relationship Id="rId5" Target="../media/image5.pn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4.png" Type="http://schemas.openxmlformats.org/officeDocument/2006/relationships/image"/><Relationship Id="rId3" Target="../media/image15.svg" Type="http://schemas.openxmlformats.org/officeDocument/2006/relationships/image"/><Relationship Id="rId4" Target="../media/image40.png" Type="http://schemas.openxmlformats.org/officeDocument/2006/relationships/image"/><Relationship Id="rId5" Target="../media/image5.png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Relationship Id="rId3" Target="../media/image7.svg" Type="http://schemas.openxmlformats.org/officeDocument/2006/relationships/image"/><Relationship Id="rId4" Target="../media/image5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094669" y="182757"/>
            <a:ext cx="17651924" cy="11760594"/>
          </a:xfrm>
          <a:custGeom>
            <a:avLst/>
            <a:gdLst/>
            <a:ahLst/>
            <a:cxnLst/>
            <a:rect r="r" b="b" t="t" l="l"/>
            <a:pathLst>
              <a:path h="11760594" w="17651924">
                <a:moveTo>
                  <a:pt x="0" y="0"/>
                </a:moveTo>
                <a:lnTo>
                  <a:pt x="17651924" y="0"/>
                </a:lnTo>
                <a:lnTo>
                  <a:pt x="17651924" y="11760594"/>
                </a:lnTo>
                <a:lnTo>
                  <a:pt x="0" y="1176059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3791920" y="0"/>
            <a:ext cx="3587812" cy="10287000"/>
            <a:chOff x="0" y="0"/>
            <a:chExt cx="2051117" cy="588097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051117" cy="5880976"/>
            </a:xfrm>
            <a:custGeom>
              <a:avLst/>
              <a:gdLst/>
              <a:ahLst/>
              <a:cxnLst/>
              <a:rect r="r" b="b" t="t" l="l"/>
              <a:pathLst>
                <a:path h="5880976" w="2051117">
                  <a:moveTo>
                    <a:pt x="0" y="0"/>
                  </a:moveTo>
                  <a:lnTo>
                    <a:pt x="2051117" y="0"/>
                  </a:lnTo>
                  <a:lnTo>
                    <a:pt x="2051117" y="5880976"/>
                  </a:lnTo>
                  <a:lnTo>
                    <a:pt x="0" y="5880976"/>
                  </a:lnTo>
                  <a:close/>
                </a:path>
              </a:pathLst>
            </a:custGeom>
            <a:solidFill>
              <a:srgbClr val="7ED95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2051117" cy="5919076"/>
            </a:xfrm>
            <a:prstGeom prst="rect">
              <a:avLst/>
            </a:prstGeom>
          </p:spPr>
          <p:txBody>
            <a:bodyPr anchor="ctr" rtlCol="false" tIns="31845" lIns="31845" bIns="31845" rIns="31845"/>
            <a:lstStyle/>
            <a:p>
              <a:pPr algn="ctr">
                <a:lnSpc>
                  <a:spcPts val="1228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4745758" y="1051075"/>
            <a:ext cx="1680136" cy="464138"/>
          </a:xfrm>
          <a:custGeom>
            <a:avLst/>
            <a:gdLst/>
            <a:ahLst/>
            <a:cxnLst/>
            <a:rect r="r" b="b" t="t" l="l"/>
            <a:pathLst>
              <a:path h="464138" w="1680136">
                <a:moveTo>
                  <a:pt x="0" y="0"/>
                </a:moveTo>
                <a:lnTo>
                  <a:pt x="1680136" y="0"/>
                </a:lnTo>
                <a:lnTo>
                  <a:pt x="1680136" y="464138"/>
                </a:lnTo>
                <a:lnTo>
                  <a:pt x="0" y="4641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TextBox 7" id="7"/>
          <p:cNvSpPr txBox="true"/>
          <p:nvPr/>
        </p:nvSpPr>
        <p:spPr>
          <a:xfrm rot="0">
            <a:off x="1489668" y="3176034"/>
            <a:ext cx="9872452" cy="21498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7479"/>
              </a:lnSpc>
              <a:spcBef>
                <a:spcPct val="0"/>
              </a:spcBef>
            </a:pPr>
            <a:r>
              <a:rPr lang="en-US" b="true" sz="12485" spc="1523">
                <a:solidFill>
                  <a:srgbClr val="FFFFFF"/>
                </a:solidFill>
                <a:latin typeface="Barlow Bold"/>
                <a:ea typeface="Barlow Bold"/>
                <a:cs typeface="Barlow Bold"/>
                <a:sym typeface="Barlow Bold"/>
              </a:rPr>
              <a:t>PR</a:t>
            </a:r>
            <a:r>
              <a:rPr lang="en-US" b="true" sz="12485" spc="1523">
                <a:solidFill>
                  <a:srgbClr val="000000"/>
                </a:solidFill>
                <a:latin typeface="Barlow Bold"/>
                <a:ea typeface="Barlow Bold"/>
                <a:cs typeface="Barlow Bold"/>
                <a:sym typeface="Barlow Bold"/>
              </a:rPr>
              <a:t>OYE</a:t>
            </a:r>
            <a:r>
              <a:rPr lang="en-US" b="true" sz="12485" spc="1523">
                <a:solidFill>
                  <a:srgbClr val="FFFFFF"/>
                </a:solidFill>
                <a:latin typeface="Barlow Bold"/>
                <a:ea typeface="Barlow Bold"/>
                <a:cs typeface="Barlow Bold"/>
                <a:sym typeface="Barlow Bold"/>
              </a:rPr>
              <a:t>CTO</a:t>
            </a:r>
            <a:r>
              <a:rPr lang="en-US" b="true" sz="12485" spc="1523">
                <a:solidFill>
                  <a:srgbClr val="000000"/>
                </a:solidFill>
                <a:latin typeface="Barlow Bold"/>
                <a:ea typeface="Barlow Bold"/>
                <a:cs typeface="Barlow Bold"/>
                <a:sym typeface="Barlow Bold"/>
              </a:rPr>
              <a:t> 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857445" y="5500354"/>
            <a:ext cx="7456761" cy="11272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541"/>
              </a:lnSpc>
              <a:spcBef>
                <a:spcPct val="0"/>
              </a:spcBef>
            </a:pPr>
            <a:r>
              <a:rPr lang="en-US" sz="3244" spc="856">
                <a:solidFill>
                  <a:srgbClr val="FFFFFF"/>
                </a:solidFill>
                <a:latin typeface="Roboto Mono"/>
                <a:ea typeface="Roboto Mono"/>
                <a:cs typeface="Roboto Mono"/>
                <a:sym typeface="Roboto Mono"/>
              </a:rPr>
              <a:t>UNID</a:t>
            </a:r>
            <a:r>
              <a:rPr lang="en-US" sz="3244" spc="856">
                <a:solidFill>
                  <a:srgbClr val="000000"/>
                </a:solidFill>
                <a:latin typeface="Roboto Mono"/>
                <a:ea typeface="Roboto Mono"/>
                <a:cs typeface="Roboto Mono"/>
                <a:sym typeface="Roboto Mono"/>
              </a:rPr>
              <a:t>AD TERRITO</a:t>
            </a:r>
            <a:r>
              <a:rPr lang="en-US" sz="3244" spc="856">
                <a:solidFill>
                  <a:srgbClr val="FFFFFF"/>
                </a:solidFill>
                <a:latin typeface="Roboto Mono"/>
                <a:ea typeface="Roboto Mono"/>
                <a:cs typeface="Roboto Mono"/>
                <a:sym typeface="Roboto Mono"/>
              </a:rPr>
              <a:t>RIA</a:t>
            </a:r>
            <a:r>
              <a:rPr lang="en-US" sz="3244" spc="856">
                <a:solidFill>
                  <a:srgbClr val="000000"/>
                </a:solidFill>
                <a:latin typeface="Roboto Mono"/>
                <a:ea typeface="Roboto Mono"/>
                <a:cs typeface="Roboto Mono"/>
                <a:sym typeface="Roboto Mono"/>
              </a:rPr>
              <a:t>L </a:t>
            </a:r>
            <a:r>
              <a:rPr lang="en-US" sz="3244" spc="856">
                <a:solidFill>
                  <a:srgbClr val="FFFFFF"/>
                </a:solidFill>
                <a:latin typeface="Roboto Mono"/>
                <a:ea typeface="Roboto Mono"/>
                <a:cs typeface="Roboto Mono"/>
                <a:sym typeface="Roboto Mono"/>
              </a:rPr>
              <a:t>JUN</a:t>
            </a:r>
            <a:r>
              <a:rPr lang="en-US" sz="3244" spc="856">
                <a:solidFill>
                  <a:srgbClr val="000000"/>
                </a:solidFill>
                <a:latin typeface="Roboto Mono"/>
                <a:ea typeface="Roboto Mono"/>
                <a:cs typeface="Roboto Mono"/>
                <a:sym typeface="Roboto Mono"/>
              </a:rPr>
              <a:t>TA DE VECI</a:t>
            </a:r>
            <a:r>
              <a:rPr lang="en-US" sz="3244" spc="856">
                <a:solidFill>
                  <a:srgbClr val="FFFFFF"/>
                </a:solidFill>
                <a:latin typeface="Roboto Mono"/>
                <a:ea typeface="Roboto Mono"/>
                <a:cs typeface="Roboto Mono"/>
                <a:sym typeface="Roboto Mono"/>
              </a:rPr>
              <a:t>NOS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4269434" y="7215296"/>
            <a:ext cx="2632783" cy="11355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94"/>
              </a:lnSpc>
            </a:pPr>
            <a:r>
              <a:rPr lang="en-US" sz="1738" spc="133">
                <a:solidFill>
                  <a:srgbClr val="000000"/>
                </a:solidFill>
                <a:latin typeface="Roboto Mono"/>
                <a:ea typeface="Roboto Mono"/>
                <a:cs typeface="Roboto Mono"/>
                <a:sym typeface="Roboto Mono"/>
              </a:rPr>
              <a:t>Presentado por Vincenzo Orellana</a:t>
            </a:r>
          </a:p>
          <a:p>
            <a:pPr algn="ctr">
              <a:lnSpc>
                <a:spcPts val="2294"/>
              </a:lnSpc>
            </a:pPr>
            <a:r>
              <a:rPr lang="en-US" sz="1738" spc="133">
                <a:solidFill>
                  <a:srgbClr val="000000"/>
                </a:solidFill>
                <a:latin typeface="Roboto Mono"/>
                <a:ea typeface="Roboto Mono"/>
                <a:cs typeface="Roboto Mono"/>
                <a:sym typeface="Roboto Mono"/>
              </a:rPr>
              <a:t>Nicolás Lizama</a:t>
            </a:r>
          </a:p>
          <a:p>
            <a:pPr algn="ctr" marL="0" indent="0" lvl="0">
              <a:lnSpc>
                <a:spcPts val="2294"/>
              </a:lnSpc>
            </a:pPr>
            <a:r>
              <a:rPr lang="en-US" sz="1738" spc="133">
                <a:solidFill>
                  <a:srgbClr val="000000"/>
                </a:solidFill>
                <a:latin typeface="Roboto Mono"/>
                <a:ea typeface="Roboto Mono"/>
                <a:cs typeface="Roboto Mono"/>
                <a:sym typeface="Roboto Mono"/>
              </a:rPr>
              <a:t>Daniel Reyes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4269434" y="8874729"/>
            <a:ext cx="2632783" cy="8498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94"/>
              </a:lnSpc>
            </a:pPr>
            <a:r>
              <a:rPr lang="en-US" sz="1738" spc="133">
                <a:solidFill>
                  <a:srgbClr val="000000"/>
                </a:solidFill>
                <a:latin typeface="Roboto Mono"/>
                <a:ea typeface="Roboto Mono"/>
                <a:cs typeface="Roboto Mono"/>
                <a:sym typeface="Roboto Mono"/>
              </a:rPr>
              <a:t>Capstone 709V</a:t>
            </a:r>
          </a:p>
          <a:p>
            <a:pPr algn="ctr">
              <a:lnSpc>
                <a:spcPts val="2294"/>
              </a:lnSpc>
            </a:pPr>
            <a:r>
              <a:rPr lang="en-US" sz="1738" spc="133">
                <a:solidFill>
                  <a:srgbClr val="000000"/>
                </a:solidFill>
                <a:latin typeface="Roboto Mono"/>
                <a:ea typeface="Roboto Mono"/>
                <a:cs typeface="Roboto Mono"/>
                <a:sym typeface="Roboto Mono"/>
              </a:rPr>
              <a:t>Profesor: </a:t>
            </a:r>
          </a:p>
          <a:p>
            <a:pPr algn="ctr" marL="0" indent="0" lvl="0">
              <a:lnSpc>
                <a:spcPts val="2294"/>
              </a:lnSpc>
            </a:pPr>
            <a:r>
              <a:rPr lang="en-US" sz="1738" spc="133">
                <a:solidFill>
                  <a:srgbClr val="000000"/>
                </a:solidFill>
                <a:latin typeface="Roboto Mono"/>
                <a:ea typeface="Roboto Mono"/>
                <a:cs typeface="Roboto Mono"/>
                <a:sym typeface="Roboto Mono"/>
              </a:rPr>
              <a:t>Jorge Guzman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857445" y="1467444"/>
            <a:ext cx="7456761" cy="5845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821"/>
              </a:lnSpc>
              <a:spcBef>
                <a:spcPct val="0"/>
              </a:spcBef>
            </a:pPr>
            <a:r>
              <a:rPr lang="en-US" sz="3444" spc="909">
                <a:solidFill>
                  <a:srgbClr val="000000"/>
                </a:solidFill>
                <a:latin typeface="Roboto Mono"/>
                <a:ea typeface="Roboto Mono"/>
                <a:cs typeface="Roboto Mono"/>
                <a:sym typeface="Roboto Mono"/>
              </a:rPr>
              <a:t>DUOC-UC</a:t>
            </a:r>
          </a:p>
        </p:txBody>
      </p:sp>
      <p:sp>
        <p:nvSpPr>
          <p:cNvPr name="Freeform 12" id="12"/>
          <p:cNvSpPr/>
          <p:nvPr/>
        </p:nvSpPr>
        <p:spPr>
          <a:xfrm flipH="false" flipV="false" rot="0">
            <a:off x="14061260" y="0"/>
            <a:ext cx="4226740" cy="1056685"/>
          </a:xfrm>
          <a:custGeom>
            <a:avLst/>
            <a:gdLst/>
            <a:ahLst/>
            <a:cxnLst/>
            <a:rect r="r" b="b" t="t" l="l"/>
            <a:pathLst>
              <a:path h="1056685" w="4226740">
                <a:moveTo>
                  <a:pt x="0" y="0"/>
                </a:moveTo>
                <a:lnTo>
                  <a:pt x="4226740" y="0"/>
                </a:lnTo>
                <a:lnTo>
                  <a:pt x="4226740" y="1056685"/>
                </a:lnTo>
                <a:lnTo>
                  <a:pt x="0" y="105668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false" rot="0">
            <a:off x="0" y="3721589"/>
            <a:ext cx="9848117" cy="6565411"/>
          </a:xfrm>
          <a:custGeom>
            <a:avLst/>
            <a:gdLst/>
            <a:ahLst/>
            <a:cxnLst/>
            <a:rect r="r" b="b" t="t" l="l"/>
            <a:pathLst>
              <a:path h="6565411" w="9848117">
                <a:moveTo>
                  <a:pt x="9848117" y="0"/>
                </a:moveTo>
                <a:lnTo>
                  <a:pt x="0" y="0"/>
                </a:lnTo>
                <a:lnTo>
                  <a:pt x="0" y="6565411"/>
                </a:lnTo>
                <a:lnTo>
                  <a:pt x="9848117" y="6565411"/>
                </a:lnTo>
                <a:lnTo>
                  <a:pt x="9848117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grpSp>
        <p:nvGrpSpPr>
          <p:cNvPr name="Group 3" id="3"/>
          <p:cNvGrpSpPr/>
          <p:nvPr/>
        </p:nvGrpSpPr>
        <p:grpSpPr>
          <a:xfrm rot="0">
            <a:off x="14724942" y="9258300"/>
            <a:ext cx="2534358" cy="347744"/>
            <a:chOff x="0" y="0"/>
            <a:chExt cx="1448868" cy="198802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448868" cy="198802"/>
            </a:xfrm>
            <a:custGeom>
              <a:avLst/>
              <a:gdLst/>
              <a:ahLst/>
              <a:cxnLst/>
              <a:rect r="r" b="b" t="t" l="l"/>
              <a:pathLst>
                <a:path h="198802" w="1448868">
                  <a:moveTo>
                    <a:pt x="0" y="0"/>
                  </a:moveTo>
                  <a:lnTo>
                    <a:pt x="1448868" y="0"/>
                  </a:lnTo>
                  <a:lnTo>
                    <a:pt x="1448868" y="198802"/>
                  </a:lnTo>
                  <a:lnTo>
                    <a:pt x="0" y="198802"/>
                  </a:lnTo>
                  <a:close/>
                </a:path>
              </a:pathLst>
            </a:custGeom>
            <a:solidFill>
              <a:srgbClr val="7ED95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1448868" cy="236902"/>
            </a:xfrm>
            <a:prstGeom prst="rect">
              <a:avLst/>
            </a:prstGeom>
          </p:spPr>
          <p:txBody>
            <a:bodyPr anchor="ctr" rtlCol="false" tIns="31845" lIns="31845" bIns="31845" rIns="31845"/>
            <a:lstStyle/>
            <a:p>
              <a:pPr algn="ctr">
                <a:lnSpc>
                  <a:spcPts val="1228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282850" y="1574389"/>
            <a:ext cx="10338290" cy="15858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2965"/>
              </a:lnSpc>
              <a:spcBef>
                <a:spcPct val="0"/>
              </a:spcBef>
            </a:pPr>
            <a:r>
              <a:rPr lang="en-US" b="true" sz="9260" spc="1129">
                <a:solidFill>
                  <a:srgbClr val="7ED957"/>
                </a:solidFill>
                <a:latin typeface="Barlow Bold"/>
                <a:ea typeface="Barlow Bold"/>
                <a:cs typeface="Barlow Bold"/>
                <a:sym typeface="Barlow Bold"/>
              </a:rPr>
              <a:t>PROBLEMATICA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3506339" y="3285861"/>
            <a:ext cx="14356864" cy="32399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308"/>
              </a:lnSpc>
              <a:spcBef>
                <a:spcPct val="0"/>
              </a:spcBef>
            </a:pPr>
            <a:r>
              <a:rPr lang="en-US" sz="3099" spc="238">
                <a:solidFill>
                  <a:srgbClr val="7ED957"/>
                </a:solidFill>
                <a:latin typeface="Roboto Mono"/>
                <a:ea typeface="Roboto Mono"/>
                <a:cs typeface="Roboto Mono"/>
                <a:sym typeface="Roboto Mono"/>
              </a:rPr>
              <a:t>La gestión actual de las juntas de vecinos es manual y desordenada. Esto causa retrasos, d</a:t>
            </a:r>
            <a:r>
              <a:rPr lang="en-US" sz="3099" spc="238">
                <a:solidFill>
                  <a:srgbClr val="7ED957"/>
                </a:solidFill>
                <a:latin typeface="Roboto Mono"/>
                <a:ea typeface="Roboto Mono"/>
                <a:cs typeface="Roboto Mono"/>
                <a:sym typeface="Roboto Mono"/>
              </a:rPr>
              <a:t>esorganización y una comunicación ineficiente con los residentes. Las juntas de vecinos, que son fundamentales para la comunidad, son las organizaciones más desatendidas en el uso de la tecnología.</a:t>
            </a:r>
          </a:p>
        </p:txBody>
      </p:sp>
      <p:sp>
        <p:nvSpPr>
          <p:cNvPr name="Freeform 8" id="8"/>
          <p:cNvSpPr/>
          <p:nvPr/>
        </p:nvSpPr>
        <p:spPr>
          <a:xfrm flipH="false" flipV="false" rot="0">
            <a:off x="14061260" y="0"/>
            <a:ext cx="4226740" cy="1056685"/>
          </a:xfrm>
          <a:custGeom>
            <a:avLst/>
            <a:gdLst/>
            <a:ahLst/>
            <a:cxnLst/>
            <a:rect r="r" b="b" t="t" l="l"/>
            <a:pathLst>
              <a:path h="1056685" w="4226740">
                <a:moveTo>
                  <a:pt x="0" y="0"/>
                </a:moveTo>
                <a:lnTo>
                  <a:pt x="4226740" y="0"/>
                </a:lnTo>
                <a:lnTo>
                  <a:pt x="4226740" y="1056685"/>
                </a:lnTo>
                <a:lnTo>
                  <a:pt x="0" y="105668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2030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2192000"/>
          </a:xfrm>
          <a:custGeom>
            <a:avLst/>
            <a:gdLst/>
            <a:ahLst/>
            <a:cxnLst/>
            <a:rect r="r" b="b" t="t" l="l"/>
            <a:pathLst>
              <a:path h="12192000" w="18288000">
                <a:moveTo>
                  <a:pt x="0" y="0"/>
                </a:moveTo>
                <a:lnTo>
                  <a:pt x="18288000" y="0"/>
                </a:lnTo>
                <a:lnTo>
                  <a:pt x="18288000" y="12192000"/>
                </a:lnTo>
                <a:lnTo>
                  <a:pt x="0" y="12192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2619671" y="2350680"/>
            <a:ext cx="13048659" cy="6455789"/>
            <a:chOff x="0" y="0"/>
            <a:chExt cx="3436684" cy="170029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436684" cy="1700290"/>
            </a:xfrm>
            <a:custGeom>
              <a:avLst/>
              <a:gdLst/>
              <a:ahLst/>
              <a:cxnLst/>
              <a:rect r="r" b="b" t="t" l="l"/>
              <a:pathLst>
                <a:path h="1700290" w="3436684">
                  <a:moveTo>
                    <a:pt x="0" y="0"/>
                  </a:moveTo>
                  <a:lnTo>
                    <a:pt x="3436684" y="0"/>
                  </a:lnTo>
                  <a:lnTo>
                    <a:pt x="3436684" y="1700290"/>
                  </a:lnTo>
                  <a:lnTo>
                    <a:pt x="0" y="1700290"/>
                  </a:lnTo>
                  <a:close/>
                </a:path>
              </a:pathLst>
            </a:custGeom>
            <a:solidFill>
              <a:srgbClr val="F3F5F9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3436684" cy="173839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52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3235261" y="3879518"/>
            <a:ext cx="11686051" cy="30131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023"/>
              </a:lnSpc>
            </a:pPr>
            <a:r>
              <a:rPr lang="en-US" sz="2873" spc="17">
                <a:solidFill>
                  <a:srgbClr val="000000"/>
                </a:solidFill>
                <a:latin typeface="Roboto Mono"/>
                <a:ea typeface="Roboto Mono"/>
                <a:cs typeface="Roboto Mono"/>
                <a:sym typeface="Roboto Mono"/>
              </a:rPr>
              <a:t>S</a:t>
            </a:r>
            <a:r>
              <a:rPr lang="en-US" sz="2873" spc="17" strike="noStrike" u="none">
                <a:solidFill>
                  <a:srgbClr val="000000"/>
                </a:solidFill>
                <a:latin typeface="Roboto Mono"/>
                <a:ea typeface="Roboto Mono"/>
                <a:cs typeface="Roboto Mono"/>
                <a:sym typeface="Roboto Mono"/>
              </a:rPr>
              <a:t>istema de gestión digital que centralizará procesos como la inscripción de vecinos, la emisión de certificados de residencia y la gestión de proyectos y reservas. El sistema será una plataforma web adaptable, robusta y movil, mejorando la transparencia y optimizando la comunicación.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5112146" y="6906809"/>
            <a:ext cx="800678" cy="2154679"/>
            <a:chOff x="0" y="0"/>
            <a:chExt cx="457740" cy="1231809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457740" cy="1231809"/>
            </a:xfrm>
            <a:custGeom>
              <a:avLst/>
              <a:gdLst/>
              <a:ahLst/>
              <a:cxnLst/>
              <a:rect r="r" b="b" t="t" l="l"/>
              <a:pathLst>
                <a:path h="1231809" w="457740">
                  <a:moveTo>
                    <a:pt x="0" y="0"/>
                  </a:moveTo>
                  <a:lnTo>
                    <a:pt x="457740" y="0"/>
                  </a:lnTo>
                  <a:lnTo>
                    <a:pt x="457740" y="1231809"/>
                  </a:lnTo>
                  <a:lnTo>
                    <a:pt x="0" y="1231809"/>
                  </a:lnTo>
                  <a:close/>
                </a:path>
              </a:pathLst>
            </a:custGeom>
            <a:solidFill>
              <a:srgbClr val="7ED957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457740" cy="1269909"/>
            </a:xfrm>
            <a:prstGeom prst="rect">
              <a:avLst/>
            </a:prstGeom>
          </p:spPr>
          <p:txBody>
            <a:bodyPr anchor="ctr" rtlCol="false" tIns="31845" lIns="31845" bIns="31845" rIns="31845"/>
            <a:lstStyle/>
            <a:p>
              <a:pPr algn="ctr">
                <a:lnSpc>
                  <a:spcPts val="1228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2243750" y="2130499"/>
            <a:ext cx="800678" cy="2154679"/>
            <a:chOff x="0" y="0"/>
            <a:chExt cx="457740" cy="1231809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57740" cy="1231809"/>
            </a:xfrm>
            <a:custGeom>
              <a:avLst/>
              <a:gdLst/>
              <a:ahLst/>
              <a:cxnLst/>
              <a:rect r="r" b="b" t="t" l="l"/>
              <a:pathLst>
                <a:path h="1231809" w="457740">
                  <a:moveTo>
                    <a:pt x="0" y="0"/>
                  </a:moveTo>
                  <a:lnTo>
                    <a:pt x="457740" y="0"/>
                  </a:lnTo>
                  <a:lnTo>
                    <a:pt x="457740" y="1231809"/>
                  </a:lnTo>
                  <a:lnTo>
                    <a:pt x="0" y="1231809"/>
                  </a:lnTo>
                  <a:close/>
                </a:path>
              </a:pathLst>
            </a:custGeom>
            <a:solidFill>
              <a:srgbClr val="7ED957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457740" cy="1269909"/>
            </a:xfrm>
            <a:prstGeom prst="rect">
              <a:avLst/>
            </a:prstGeom>
          </p:spPr>
          <p:txBody>
            <a:bodyPr anchor="ctr" rtlCol="false" tIns="31845" lIns="31845" bIns="31845" rIns="31845"/>
            <a:lstStyle/>
            <a:p>
              <a:pPr algn="ctr">
                <a:lnSpc>
                  <a:spcPts val="1228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3981650" y="2325328"/>
            <a:ext cx="10324701" cy="15840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2965"/>
              </a:lnSpc>
              <a:spcBef>
                <a:spcPct val="0"/>
              </a:spcBef>
            </a:pPr>
            <a:r>
              <a:rPr lang="en-US" b="true" sz="9261" spc="1129">
                <a:solidFill>
                  <a:srgbClr val="000000"/>
                </a:solidFill>
                <a:latin typeface="Barlow Bold"/>
                <a:ea typeface="Barlow Bold"/>
                <a:cs typeface="Barlow Bold"/>
                <a:sym typeface="Barlow Bold"/>
              </a:rPr>
              <a:t>S</a:t>
            </a:r>
            <a:r>
              <a:rPr lang="en-US" b="true" sz="9261" spc="1129" strike="noStrike" u="none">
                <a:solidFill>
                  <a:srgbClr val="000000"/>
                </a:solidFill>
                <a:latin typeface="Barlow Bold"/>
                <a:ea typeface="Barlow Bold"/>
                <a:cs typeface="Barlow Bold"/>
                <a:sym typeface="Barlow Bold"/>
              </a:rPr>
              <a:t>OLUCIÓN</a:t>
            </a:r>
          </a:p>
        </p:txBody>
      </p:sp>
      <p:sp>
        <p:nvSpPr>
          <p:cNvPr name="Freeform 14" id="14"/>
          <p:cNvSpPr/>
          <p:nvPr/>
        </p:nvSpPr>
        <p:spPr>
          <a:xfrm flipH="false" flipV="false" rot="0">
            <a:off x="14061260" y="0"/>
            <a:ext cx="4226740" cy="1056685"/>
          </a:xfrm>
          <a:custGeom>
            <a:avLst/>
            <a:gdLst/>
            <a:ahLst/>
            <a:cxnLst/>
            <a:rect r="r" b="b" t="t" l="l"/>
            <a:pathLst>
              <a:path h="1056685" w="4226740">
                <a:moveTo>
                  <a:pt x="0" y="0"/>
                </a:moveTo>
                <a:lnTo>
                  <a:pt x="4226740" y="0"/>
                </a:lnTo>
                <a:lnTo>
                  <a:pt x="4226740" y="1056685"/>
                </a:lnTo>
                <a:lnTo>
                  <a:pt x="0" y="105668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930209" y="-1628048"/>
            <a:ext cx="10641798" cy="11915048"/>
          </a:xfrm>
          <a:custGeom>
            <a:avLst/>
            <a:gdLst/>
            <a:ahLst/>
            <a:cxnLst/>
            <a:rect r="r" b="b" t="t" l="l"/>
            <a:pathLst>
              <a:path h="11915048" w="10641798">
                <a:moveTo>
                  <a:pt x="0" y="0"/>
                </a:moveTo>
                <a:lnTo>
                  <a:pt x="10641798" y="0"/>
                </a:lnTo>
                <a:lnTo>
                  <a:pt x="10641798" y="11915048"/>
                </a:lnTo>
                <a:lnTo>
                  <a:pt x="0" y="1191504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-86607" t="0" r="0" b="0"/>
            </a:stretch>
          </a:blipFill>
          <a:ln cap="sq">
            <a:noFill/>
            <a:prstDash val="solid"/>
            <a:miter/>
          </a:ln>
        </p:spPr>
      </p:sp>
      <p:grpSp>
        <p:nvGrpSpPr>
          <p:cNvPr name="Group 3" id="3"/>
          <p:cNvGrpSpPr/>
          <p:nvPr/>
        </p:nvGrpSpPr>
        <p:grpSpPr>
          <a:xfrm rot="0">
            <a:off x="9080875" y="6898570"/>
            <a:ext cx="1959418" cy="2404992"/>
            <a:chOff x="0" y="0"/>
            <a:chExt cx="1120180" cy="137491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120180" cy="1374910"/>
            </a:xfrm>
            <a:custGeom>
              <a:avLst/>
              <a:gdLst/>
              <a:ahLst/>
              <a:cxnLst/>
              <a:rect r="r" b="b" t="t" l="l"/>
              <a:pathLst>
                <a:path h="1374910" w="1120180">
                  <a:moveTo>
                    <a:pt x="0" y="0"/>
                  </a:moveTo>
                  <a:lnTo>
                    <a:pt x="1120180" y="0"/>
                  </a:lnTo>
                  <a:lnTo>
                    <a:pt x="1120180" y="1374910"/>
                  </a:lnTo>
                  <a:lnTo>
                    <a:pt x="0" y="1374910"/>
                  </a:lnTo>
                  <a:close/>
                </a:path>
              </a:pathLst>
            </a:custGeom>
            <a:solidFill>
              <a:srgbClr val="7ED95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1120180" cy="1413010"/>
            </a:xfrm>
            <a:prstGeom prst="rect">
              <a:avLst/>
            </a:prstGeom>
          </p:spPr>
          <p:txBody>
            <a:bodyPr anchor="ctr" rtlCol="false" tIns="31845" lIns="31845" bIns="31845" rIns="31845"/>
            <a:lstStyle/>
            <a:p>
              <a:pPr algn="ctr">
                <a:lnSpc>
                  <a:spcPts val="1228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480187" y="983438"/>
            <a:ext cx="1959418" cy="2404992"/>
            <a:chOff x="0" y="0"/>
            <a:chExt cx="1120180" cy="137491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120180" cy="1374910"/>
            </a:xfrm>
            <a:custGeom>
              <a:avLst/>
              <a:gdLst/>
              <a:ahLst/>
              <a:cxnLst/>
              <a:rect r="r" b="b" t="t" l="l"/>
              <a:pathLst>
                <a:path h="1374910" w="1120180">
                  <a:moveTo>
                    <a:pt x="0" y="0"/>
                  </a:moveTo>
                  <a:lnTo>
                    <a:pt x="1120180" y="0"/>
                  </a:lnTo>
                  <a:lnTo>
                    <a:pt x="1120180" y="1374910"/>
                  </a:lnTo>
                  <a:lnTo>
                    <a:pt x="0" y="1374910"/>
                  </a:lnTo>
                  <a:close/>
                </a:path>
              </a:pathLst>
            </a:custGeom>
            <a:solidFill>
              <a:srgbClr val="7ED957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1120180" cy="1413010"/>
            </a:xfrm>
            <a:prstGeom prst="rect">
              <a:avLst/>
            </a:prstGeom>
          </p:spPr>
          <p:txBody>
            <a:bodyPr anchor="ctr" rtlCol="false" tIns="31845" lIns="31845" bIns="31845" rIns="31845"/>
            <a:lstStyle/>
            <a:p>
              <a:pPr algn="ctr">
                <a:lnSpc>
                  <a:spcPts val="1228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727354" y="1227739"/>
            <a:ext cx="10012355" cy="7710607"/>
            <a:chOff x="0" y="0"/>
            <a:chExt cx="2636999" cy="2030777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636999" cy="2030777"/>
            </a:xfrm>
            <a:custGeom>
              <a:avLst/>
              <a:gdLst/>
              <a:ahLst/>
              <a:cxnLst/>
              <a:rect r="r" b="b" t="t" l="l"/>
              <a:pathLst>
                <a:path h="2030777" w="2636999">
                  <a:moveTo>
                    <a:pt x="0" y="0"/>
                  </a:moveTo>
                  <a:lnTo>
                    <a:pt x="2636999" y="0"/>
                  </a:lnTo>
                  <a:lnTo>
                    <a:pt x="2636999" y="2030777"/>
                  </a:lnTo>
                  <a:lnTo>
                    <a:pt x="0" y="2030777"/>
                  </a:lnTo>
                  <a:close/>
                </a:path>
              </a:pathLst>
            </a:custGeom>
            <a:solidFill>
              <a:srgbClr val="F3F5F9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2636999" cy="206887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52"/>
                </a:lnSpc>
              </a:pP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1171740" y="1887936"/>
            <a:ext cx="8888844" cy="9075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7393"/>
              </a:lnSpc>
              <a:spcBef>
                <a:spcPct val="0"/>
              </a:spcBef>
            </a:pPr>
            <a:r>
              <a:rPr lang="en-US" b="true" sz="5281" spc="644">
                <a:solidFill>
                  <a:srgbClr val="000000"/>
                </a:solidFill>
                <a:latin typeface="Barlow Bold"/>
                <a:ea typeface="Barlow Bold"/>
                <a:cs typeface="Barlow Bold"/>
                <a:sym typeface="Barlow Bold"/>
              </a:rPr>
              <a:t>OBJETIVO GENERAL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147927" y="3076353"/>
            <a:ext cx="9171209" cy="53139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1">
              <a:lnSpc>
                <a:spcPts val="4257"/>
              </a:lnSpc>
              <a:spcBef>
                <a:spcPct val="0"/>
              </a:spcBef>
            </a:pPr>
            <a:r>
              <a:rPr lang="en-US" sz="3041" spc="18">
                <a:solidFill>
                  <a:srgbClr val="000000"/>
                </a:solidFill>
                <a:latin typeface="Roboto Mono"/>
                <a:ea typeface="Roboto Mono"/>
                <a:cs typeface="Roboto Mono"/>
                <a:sym typeface="Roboto Mono"/>
              </a:rPr>
              <a:t>Mej</a:t>
            </a:r>
            <a:r>
              <a:rPr lang="en-US" sz="3041" spc="18" strike="noStrike" u="none">
                <a:solidFill>
                  <a:srgbClr val="000000"/>
                </a:solidFill>
                <a:latin typeface="Roboto Mono"/>
                <a:ea typeface="Roboto Mono"/>
                <a:cs typeface="Roboto Mono"/>
                <a:sym typeface="Roboto Mono"/>
              </a:rPr>
              <a:t>orar la gestión administrativa, comunicacional y organizativa de una junta de vecinos mediante el desarrollo de un sistema web responsivo y/o aplicación móvil, que centralice procesos clave como inscripción de vecinos, emisión de certificados de residencia, gestión de proyectos vecinales, reservas de espacios y comunicación con la comunidad.</a:t>
            </a:r>
          </a:p>
        </p:txBody>
      </p:sp>
      <p:sp>
        <p:nvSpPr>
          <p:cNvPr name="Freeform 14" id="14"/>
          <p:cNvSpPr/>
          <p:nvPr/>
        </p:nvSpPr>
        <p:spPr>
          <a:xfrm flipH="false" flipV="false" rot="0">
            <a:off x="-785113" y="-3359962"/>
            <a:ext cx="5135476" cy="4114800"/>
          </a:xfrm>
          <a:custGeom>
            <a:avLst/>
            <a:gdLst/>
            <a:ahLst/>
            <a:cxnLst/>
            <a:rect r="r" b="b" t="t" l="l"/>
            <a:pathLst>
              <a:path h="4114800" w="5135476">
                <a:moveTo>
                  <a:pt x="0" y="0"/>
                </a:moveTo>
                <a:lnTo>
                  <a:pt x="5135476" y="0"/>
                </a:lnTo>
                <a:lnTo>
                  <a:pt x="513547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14061260" y="0"/>
            <a:ext cx="4226740" cy="1056685"/>
          </a:xfrm>
          <a:custGeom>
            <a:avLst/>
            <a:gdLst/>
            <a:ahLst/>
            <a:cxnLst/>
            <a:rect r="r" b="b" t="t" l="l"/>
            <a:pathLst>
              <a:path h="1056685" w="4226740">
                <a:moveTo>
                  <a:pt x="0" y="0"/>
                </a:moveTo>
                <a:lnTo>
                  <a:pt x="4226740" y="0"/>
                </a:lnTo>
                <a:lnTo>
                  <a:pt x="4226740" y="1056685"/>
                </a:lnTo>
                <a:lnTo>
                  <a:pt x="0" y="105668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930209" y="-1628048"/>
            <a:ext cx="10641798" cy="11915048"/>
          </a:xfrm>
          <a:custGeom>
            <a:avLst/>
            <a:gdLst/>
            <a:ahLst/>
            <a:cxnLst/>
            <a:rect r="r" b="b" t="t" l="l"/>
            <a:pathLst>
              <a:path h="11915048" w="10641798">
                <a:moveTo>
                  <a:pt x="0" y="0"/>
                </a:moveTo>
                <a:lnTo>
                  <a:pt x="10641798" y="0"/>
                </a:lnTo>
                <a:lnTo>
                  <a:pt x="10641798" y="11915048"/>
                </a:lnTo>
                <a:lnTo>
                  <a:pt x="0" y="1191504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-86607" t="0" r="0" b="0"/>
            </a:stretch>
          </a:blipFill>
          <a:ln cap="sq">
            <a:noFill/>
            <a:prstDash val="solid"/>
            <a:miter/>
          </a:ln>
        </p:spPr>
      </p:sp>
      <p:grpSp>
        <p:nvGrpSpPr>
          <p:cNvPr name="Group 3" id="3"/>
          <p:cNvGrpSpPr/>
          <p:nvPr/>
        </p:nvGrpSpPr>
        <p:grpSpPr>
          <a:xfrm rot="0">
            <a:off x="9080875" y="6898570"/>
            <a:ext cx="1959418" cy="2404992"/>
            <a:chOff x="0" y="0"/>
            <a:chExt cx="1120180" cy="137491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120180" cy="1374910"/>
            </a:xfrm>
            <a:custGeom>
              <a:avLst/>
              <a:gdLst/>
              <a:ahLst/>
              <a:cxnLst/>
              <a:rect r="r" b="b" t="t" l="l"/>
              <a:pathLst>
                <a:path h="1374910" w="1120180">
                  <a:moveTo>
                    <a:pt x="0" y="0"/>
                  </a:moveTo>
                  <a:lnTo>
                    <a:pt x="1120180" y="0"/>
                  </a:lnTo>
                  <a:lnTo>
                    <a:pt x="1120180" y="1374910"/>
                  </a:lnTo>
                  <a:lnTo>
                    <a:pt x="0" y="1374910"/>
                  </a:lnTo>
                  <a:close/>
                </a:path>
              </a:pathLst>
            </a:custGeom>
            <a:solidFill>
              <a:srgbClr val="7ED95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1120180" cy="1413010"/>
            </a:xfrm>
            <a:prstGeom prst="rect">
              <a:avLst/>
            </a:prstGeom>
          </p:spPr>
          <p:txBody>
            <a:bodyPr anchor="ctr" rtlCol="false" tIns="31845" lIns="31845" bIns="31845" rIns="31845"/>
            <a:lstStyle/>
            <a:p>
              <a:pPr algn="ctr">
                <a:lnSpc>
                  <a:spcPts val="1228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480187" y="983438"/>
            <a:ext cx="1959418" cy="2404992"/>
            <a:chOff x="0" y="0"/>
            <a:chExt cx="1120180" cy="137491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120180" cy="1374910"/>
            </a:xfrm>
            <a:custGeom>
              <a:avLst/>
              <a:gdLst/>
              <a:ahLst/>
              <a:cxnLst/>
              <a:rect r="r" b="b" t="t" l="l"/>
              <a:pathLst>
                <a:path h="1374910" w="1120180">
                  <a:moveTo>
                    <a:pt x="0" y="0"/>
                  </a:moveTo>
                  <a:lnTo>
                    <a:pt x="1120180" y="0"/>
                  </a:lnTo>
                  <a:lnTo>
                    <a:pt x="1120180" y="1374910"/>
                  </a:lnTo>
                  <a:lnTo>
                    <a:pt x="0" y="1374910"/>
                  </a:lnTo>
                  <a:close/>
                </a:path>
              </a:pathLst>
            </a:custGeom>
            <a:solidFill>
              <a:srgbClr val="7ED957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1120180" cy="1413010"/>
            </a:xfrm>
            <a:prstGeom prst="rect">
              <a:avLst/>
            </a:prstGeom>
          </p:spPr>
          <p:txBody>
            <a:bodyPr anchor="ctr" rtlCol="false" tIns="31845" lIns="31845" bIns="31845" rIns="31845"/>
            <a:lstStyle/>
            <a:p>
              <a:pPr algn="ctr">
                <a:lnSpc>
                  <a:spcPts val="1228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727354" y="1227739"/>
            <a:ext cx="10012355" cy="7710607"/>
            <a:chOff x="0" y="0"/>
            <a:chExt cx="2636999" cy="2030777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636999" cy="2030777"/>
            </a:xfrm>
            <a:custGeom>
              <a:avLst/>
              <a:gdLst/>
              <a:ahLst/>
              <a:cxnLst/>
              <a:rect r="r" b="b" t="t" l="l"/>
              <a:pathLst>
                <a:path h="2030777" w="2636999">
                  <a:moveTo>
                    <a:pt x="0" y="0"/>
                  </a:moveTo>
                  <a:lnTo>
                    <a:pt x="2636999" y="0"/>
                  </a:lnTo>
                  <a:lnTo>
                    <a:pt x="2636999" y="2030777"/>
                  </a:lnTo>
                  <a:lnTo>
                    <a:pt x="0" y="2030777"/>
                  </a:lnTo>
                  <a:close/>
                </a:path>
              </a:pathLst>
            </a:custGeom>
            <a:solidFill>
              <a:srgbClr val="F3F5F9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2636999" cy="206887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52"/>
                </a:lnSpc>
              </a:pPr>
            </a:p>
          </p:txBody>
        </p:sp>
      </p:grpSp>
      <p:sp>
        <p:nvSpPr>
          <p:cNvPr name="Freeform 12" id="12"/>
          <p:cNvSpPr/>
          <p:nvPr/>
        </p:nvSpPr>
        <p:spPr>
          <a:xfrm flipH="false" flipV="false" rot="0">
            <a:off x="-785113" y="-3359962"/>
            <a:ext cx="5135476" cy="4114800"/>
          </a:xfrm>
          <a:custGeom>
            <a:avLst/>
            <a:gdLst/>
            <a:ahLst/>
            <a:cxnLst/>
            <a:rect r="r" b="b" t="t" l="l"/>
            <a:pathLst>
              <a:path h="4114800" w="5135476">
                <a:moveTo>
                  <a:pt x="0" y="0"/>
                </a:moveTo>
                <a:lnTo>
                  <a:pt x="5135476" y="0"/>
                </a:lnTo>
                <a:lnTo>
                  <a:pt x="513547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14061260" y="0"/>
            <a:ext cx="4226740" cy="1056685"/>
          </a:xfrm>
          <a:custGeom>
            <a:avLst/>
            <a:gdLst/>
            <a:ahLst/>
            <a:cxnLst/>
            <a:rect r="r" b="b" t="t" l="l"/>
            <a:pathLst>
              <a:path h="1056685" w="4226740">
                <a:moveTo>
                  <a:pt x="0" y="0"/>
                </a:moveTo>
                <a:lnTo>
                  <a:pt x="4226740" y="0"/>
                </a:lnTo>
                <a:lnTo>
                  <a:pt x="4226740" y="1056685"/>
                </a:lnTo>
                <a:lnTo>
                  <a:pt x="0" y="105668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14" id="14"/>
          <p:cNvSpPr txBox="true"/>
          <p:nvPr/>
        </p:nvSpPr>
        <p:spPr>
          <a:xfrm rot="0">
            <a:off x="1171740" y="1887936"/>
            <a:ext cx="8888844" cy="9075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7393"/>
              </a:lnSpc>
              <a:spcBef>
                <a:spcPct val="0"/>
              </a:spcBef>
            </a:pPr>
            <a:r>
              <a:rPr lang="en-US" b="true" sz="5281" spc="644">
                <a:solidFill>
                  <a:srgbClr val="000000"/>
                </a:solidFill>
                <a:latin typeface="Barlow Bold"/>
                <a:ea typeface="Barlow Bold"/>
                <a:cs typeface="Barlow Bold"/>
                <a:sym typeface="Barlow Bold"/>
              </a:rPr>
              <a:t>ALCANCES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028700" y="3350330"/>
            <a:ext cx="9171209" cy="36648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505463" indent="-252732" lvl="1">
              <a:lnSpc>
                <a:spcPts val="3277"/>
              </a:lnSpc>
              <a:spcBef>
                <a:spcPct val="0"/>
              </a:spcBef>
              <a:buFont typeface="Arial"/>
              <a:buChar char="•"/>
            </a:pPr>
            <a:r>
              <a:rPr lang="en-US" sz="2341" spc="14">
                <a:solidFill>
                  <a:srgbClr val="000000"/>
                </a:solidFill>
                <a:latin typeface="Roboto Mono"/>
                <a:ea typeface="Roboto Mono"/>
                <a:cs typeface="Roboto Mono"/>
                <a:sym typeface="Roboto Mono"/>
              </a:rPr>
              <a:t>I</a:t>
            </a:r>
            <a:r>
              <a:rPr lang="en-US" sz="2341" spc="14" strike="noStrike" u="none">
                <a:solidFill>
                  <a:srgbClr val="000000"/>
                </a:solidFill>
                <a:latin typeface="Roboto Mono"/>
                <a:ea typeface="Roboto Mono"/>
                <a:cs typeface="Roboto Mono"/>
                <a:sym typeface="Roboto Mono"/>
              </a:rPr>
              <a:t>nscripción de vecinos.</a:t>
            </a:r>
          </a:p>
          <a:p>
            <a:pPr algn="just" marL="505463" indent="-252732" lvl="1">
              <a:lnSpc>
                <a:spcPts val="3277"/>
              </a:lnSpc>
              <a:spcBef>
                <a:spcPct val="0"/>
              </a:spcBef>
              <a:buFont typeface="Arial"/>
              <a:buChar char="•"/>
            </a:pPr>
            <a:r>
              <a:rPr lang="en-US" sz="2341" spc="14" strike="noStrike" u="none">
                <a:solidFill>
                  <a:srgbClr val="000000"/>
                </a:solidFill>
                <a:latin typeface="Roboto Mono"/>
                <a:ea typeface="Roboto Mono"/>
                <a:cs typeface="Roboto Mono"/>
                <a:sym typeface="Roboto Mono"/>
              </a:rPr>
              <a:t>Solicitud y emisión de certificados de residencia.</a:t>
            </a:r>
          </a:p>
          <a:p>
            <a:pPr algn="just" marL="505463" indent="-252732" lvl="1">
              <a:lnSpc>
                <a:spcPts val="3277"/>
              </a:lnSpc>
              <a:spcBef>
                <a:spcPct val="0"/>
              </a:spcBef>
              <a:buFont typeface="Arial"/>
              <a:buChar char="•"/>
            </a:pPr>
            <a:r>
              <a:rPr lang="en-US" sz="2341" spc="14" strike="noStrike" u="none">
                <a:solidFill>
                  <a:srgbClr val="000000"/>
                </a:solidFill>
                <a:latin typeface="Roboto Mono"/>
                <a:ea typeface="Roboto Mono"/>
                <a:cs typeface="Roboto Mono"/>
                <a:sym typeface="Roboto Mono"/>
              </a:rPr>
              <a:t>Postulación y gestión de proyectos vecinales.</a:t>
            </a:r>
          </a:p>
          <a:p>
            <a:pPr algn="just" marL="505463" indent="-252732" lvl="1">
              <a:lnSpc>
                <a:spcPts val="3277"/>
              </a:lnSpc>
              <a:spcBef>
                <a:spcPct val="0"/>
              </a:spcBef>
              <a:buFont typeface="Arial"/>
              <a:buChar char="•"/>
            </a:pPr>
            <a:r>
              <a:rPr lang="en-US" sz="2341" spc="14" strike="noStrike" u="none">
                <a:solidFill>
                  <a:srgbClr val="000000"/>
                </a:solidFill>
                <a:latin typeface="Roboto Mono"/>
                <a:ea typeface="Roboto Mono"/>
                <a:cs typeface="Roboto Mono"/>
                <a:sym typeface="Roboto Mono"/>
              </a:rPr>
              <a:t>Reserva de espacios comunitarios.</a:t>
            </a:r>
          </a:p>
          <a:p>
            <a:pPr algn="just" marL="505463" indent="-252732" lvl="1">
              <a:lnSpc>
                <a:spcPts val="3277"/>
              </a:lnSpc>
              <a:spcBef>
                <a:spcPct val="0"/>
              </a:spcBef>
              <a:buFont typeface="Arial"/>
              <a:buChar char="•"/>
            </a:pPr>
            <a:r>
              <a:rPr lang="en-US" sz="2341" spc="14" strike="noStrike" u="none">
                <a:solidFill>
                  <a:srgbClr val="000000"/>
                </a:solidFill>
                <a:latin typeface="Roboto Mono"/>
                <a:ea typeface="Roboto Mono"/>
                <a:cs typeface="Roboto Mono"/>
                <a:sym typeface="Roboto Mono"/>
              </a:rPr>
              <a:t>Noticias y avisos con fechas de vigencia.</a:t>
            </a:r>
          </a:p>
          <a:p>
            <a:pPr algn="just" marL="505463" indent="-252732" lvl="1">
              <a:lnSpc>
                <a:spcPts val="3277"/>
              </a:lnSpc>
              <a:spcBef>
                <a:spcPct val="0"/>
              </a:spcBef>
              <a:buFont typeface="Arial"/>
              <a:buChar char="•"/>
            </a:pPr>
            <a:r>
              <a:rPr lang="en-US" sz="2341" spc="14" strike="noStrike" u="none">
                <a:solidFill>
                  <a:srgbClr val="000000"/>
                </a:solidFill>
                <a:latin typeface="Roboto Mono"/>
                <a:ea typeface="Roboto Mono"/>
                <a:cs typeface="Roboto Mono"/>
                <a:sym typeface="Roboto Mono"/>
              </a:rPr>
              <a:t>Notificaciones por afiche digital, email y WhatsApp.</a:t>
            </a:r>
          </a:p>
          <a:p>
            <a:pPr algn="just">
              <a:lnSpc>
                <a:spcPts val="3277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930209" y="-1628048"/>
            <a:ext cx="10641798" cy="11915048"/>
          </a:xfrm>
          <a:custGeom>
            <a:avLst/>
            <a:gdLst/>
            <a:ahLst/>
            <a:cxnLst/>
            <a:rect r="r" b="b" t="t" l="l"/>
            <a:pathLst>
              <a:path h="11915048" w="10641798">
                <a:moveTo>
                  <a:pt x="0" y="0"/>
                </a:moveTo>
                <a:lnTo>
                  <a:pt x="10641798" y="0"/>
                </a:lnTo>
                <a:lnTo>
                  <a:pt x="10641798" y="11915048"/>
                </a:lnTo>
                <a:lnTo>
                  <a:pt x="0" y="1191504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-86607" t="0" r="0" b="0"/>
            </a:stretch>
          </a:blipFill>
          <a:ln cap="sq">
            <a:noFill/>
            <a:prstDash val="solid"/>
            <a:miter/>
          </a:ln>
        </p:spPr>
      </p:sp>
      <p:grpSp>
        <p:nvGrpSpPr>
          <p:cNvPr name="Group 3" id="3"/>
          <p:cNvGrpSpPr/>
          <p:nvPr/>
        </p:nvGrpSpPr>
        <p:grpSpPr>
          <a:xfrm rot="0">
            <a:off x="9080875" y="6898570"/>
            <a:ext cx="1959418" cy="2404992"/>
            <a:chOff x="0" y="0"/>
            <a:chExt cx="1120180" cy="137491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120180" cy="1374910"/>
            </a:xfrm>
            <a:custGeom>
              <a:avLst/>
              <a:gdLst/>
              <a:ahLst/>
              <a:cxnLst/>
              <a:rect r="r" b="b" t="t" l="l"/>
              <a:pathLst>
                <a:path h="1374910" w="1120180">
                  <a:moveTo>
                    <a:pt x="0" y="0"/>
                  </a:moveTo>
                  <a:lnTo>
                    <a:pt x="1120180" y="0"/>
                  </a:lnTo>
                  <a:lnTo>
                    <a:pt x="1120180" y="1374910"/>
                  </a:lnTo>
                  <a:lnTo>
                    <a:pt x="0" y="1374910"/>
                  </a:lnTo>
                  <a:close/>
                </a:path>
              </a:pathLst>
            </a:custGeom>
            <a:solidFill>
              <a:srgbClr val="7ED95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1120180" cy="1413010"/>
            </a:xfrm>
            <a:prstGeom prst="rect">
              <a:avLst/>
            </a:prstGeom>
          </p:spPr>
          <p:txBody>
            <a:bodyPr anchor="ctr" rtlCol="false" tIns="31845" lIns="31845" bIns="31845" rIns="31845"/>
            <a:lstStyle/>
            <a:p>
              <a:pPr algn="ctr">
                <a:lnSpc>
                  <a:spcPts val="1228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480187" y="983438"/>
            <a:ext cx="1959418" cy="2404992"/>
            <a:chOff x="0" y="0"/>
            <a:chExt cx="1120180" cy="137491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120180" cy="1374910"/>
            </a:xfrm>
            <a:custGeom>
              <a:avLst/>
              <a:gdLst/>
              <a:ahLst/>
              <a:cxnLst/>
              <a:rect r="r" b="b" t="t" l="l"/>
              <a:pathLst>
                <a:path h="1374910" w="1120180">
                  <a:moveTo>
                    <a:pt x="0" y="0"/>
                  </a:moveTo>
                  <a:lnTo>
                    <a:pt x="1120180" y="0"/>
                  </a:lnTo>
                  <a:lnTo>
                    <a:pt x="1120180" y="1374910"/>
                  </a:lnTo>
                  <a:lnTo>
                    <a:pt x="0" y="1374910"/>
                  </a:lnTo>
                  <a:close/>
                </a:path>
              </a:pathLst>
            </a:custGeom>
            <a:solidFill>
              <a:srgbClr val="7ED957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1120180" cy="1413010"/>
            </a:xfrm>
            <a:prstGeom prst="rect">
              <a:avLst/>
            </a:prstGeom>
          </p:spPr>
          <p:txBody>
            <a:bodyPr anchor="ctr" rtlCol="false" tIns="31845" lIns="31845" bIns="31845" rIns="31845"/>
            <a:lstStyle/>
            <a:p>
              <a:pPr algn="ctr">
                <a:lnSpc>
                  <a:spcPts val="1228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727354" y="1227739"/>
            <a:ext cx="10012355" cy="7710607"/>
            <a:chOff x="0" y="0"/>
            <a:chExt cx="2636999" cy="2030777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636999" cy="2030777"/>
            </a:xfrm>
            <a:custGeom>
              <a:avLst/>
              <a:gdLst/>
              <a:ahLst/>
              <a:cxnLst/>
              <a:rect r="r" b="b" t="t" l="l"/>
              <a:pathLst>
                <a:path h="2030777" w="2636999">
                  <a:moveTo>
                    <a:pt x="0" y="0"/>
                  </a:moveTo>
                  <a:lnTo>
                    <a:pt x="2636999" y="0"/>
                  </a:lnTo>
                  <a:lnTo>
                    <a:pt x="2636999" y="2030777"/>
                  </a:lnTo>
                  <a:lnTo>
                    <a:pt x="0" y="2030777"/>
                  </a:lnTo>
                  <a:close/>
                </a:path>
              </a:pathLst>
            </a:custGeom>
            <a:solidFill>
              <a:srgbClr val="F3F5F9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2636999" cy="206887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52"/>
                </a:lnSpc>
              </a:pPr>
            </a:p>
          </p:txBody>
        </p:sp>
      </p:grpSp>
      <p:sp>
        <p:nvSpPr>
          <p:cNvPr name="Freeform 12" id="12"/>
          <p:cNvSpPr/>
          <p:nvPr/>
        </p:nvSpPr>
        <p:spPr>
          <a:xfrm flipH="false" flipV="false" rot="0">
            <a:off x="-785113" y="-3359962"/>
            <a:ext cx="5135476" cy="4114800"/>
          </a:xfrm>
          <a:custGeom>
            <a:avLst/>
            <a:gdLst/>
            <a:ahLst/>
            <a:cxnLst/>
            <a:rect r="r" b="b" t="t" l="l"/>
            <a:pathLst>
              <a:path h="4114800" w="5135476">
                <a:moveTo>
                  <a:pt x="0" y="0"/>
                </a:moveTo>
                <a:lnTo>
                  <a:pt x="5135476" y="0"/>
                </a:lnTo>
                <a:lnTo>
                  <a:pt x="513547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14061260" y="0"/>
            <a:ext cx="4226740" cy="1056685"/>
          </a:xfrm>
          <a:custGeom>
            <a:avLst/>
            <a:gdLst/>
            <a:ahLst/>
            <a:cxnLst/>
            <a:rect r="r" b="b" t="t" l="l"/>
            <a:pathLst>
              <a:path h="1056685" w="4226740">
                <a:moveTo>
                  <a:pt x="0" y="0"/>
                </a:moveTo>
                <a:lnTo>
                  <a:pt x="4226740" y="0"/>
                </a:lnTo>
                <a:lnTo>
                  <a:pt x="4226740" y="1056685"/>
                </a:lnTo>
                <a:lnTo>
                  <a:pt x="0" y="105668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14" id="14"/>
          <p:cNvSpPr txBox="true"/>
          <p:nvPr/>
        </p:nvSpPr>
        <p:spPr>
          <a:xfrm rot="0">
            <a:off x="1177311" y="2081159"/>
            <a:ext cx="8888844" cy="9075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7393"/>
              </a:lnSpc>
              <a:spcBef>
                <a:spcPct val="0"/>
              </a:spcBef>
            </a:pPr>
            <a:r>
              <a:rPr lang="en-US" b="true" sz="5281" spc="644">
                <a:solidFill>
                  <a:srgbClr val="000000"/>
                </a:solidFill>
                <a:latin typeface="Barlow Bold"/>
                <a:ea typeface="Barlow Bold"/>
                <a:cs typeface="Barlow Bold"/>
                <a:sym typeface="Barlow Bold"/>
              </a:rPr>
              <a:t>LIMITACIONES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034272" y="2958923"/>
            <a:ext cx="9171209" cy="16169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505463" indent="-252732" lvl="1">
              <a:lnSpc>
                <a:spcPts val="3277"/>
              </a:lnSpc>
              <a:buFont typeface="Arial"/>
              <a:buChar char="•"/>
            </a:pPr>
            <a:r>
              <a:rPr lang="en-US" sz="2341" spc="14">
                <a:solidFill>
                  <a:srgbClr val="000000"/>
                </a:solidFill>
                <a:latin typeface="Roboto Mono"/>
                <a:ea typeface="Roboto Mono"/>
                <a:cs typeface="Roboto Mono"/>
                <a:sym typeface="Roboto Mono"/>
              </a:rPr>
              <a:t>Limitaciones físicas</a:t>
            </a:r>
          </a:p>
          <a:p>
            <a:pPr algn="just" marL="505463" indent="-252732" lvl="1">
              <a:lnSpc>
                <a:spcPts val="3277"/>
              </a:lnSpc>
              <a:buFont typeface="Arial"/>
              <a:buChar char="•"/>
            </a:pPr>
            <a:r>
              <a:rPr lang="en-US" sz="2341" spc="14">
                <a:solidFill>
                  <a:srgbClr val="000000"/>
                </a:solidFill>
                <a:latin typeface="Roboto Mono"/>
                <a:ea typeface="Roboto Mono"/>
                <a:cs typeface="Roboto Mono"/>
                <a:sym typeface="Roboto Mono"/>
              </a:rPr>
              <a:t>Capacidad de la directiva</a:t>
            </a:r>
          </a:p>
          <a:p>
            <a:pPr algn="just" marL="505463" indent="-252732" lvl="1">
              <a:lnSpc>
                <a:spcPts val="3277"/>
              </a:lnSpc>
              <a:buFont typeface="Arial"/>
              <a:buChar char="•"/>
            </a:pPr>
            <a:r>
              <a:rPr lang="en-US" sz="2341" spc="14">
                <a:solidFill>
                  <a:srgbClr val="000000"/>
                </a:solidFill>
                <a:latin typeface="Roboto Mono"/>
                <a:ea typeface="Roboto Mono"/>
                <a:cs typeface="Roboto Mono"/>
                <a:sym typeface="Roboto Mono"/>
              </a:rPr>
              <a:t>Adopción del sistema</a:t>
            </a:r>
          </a:p>
          <a:p>
            <a:pPr algn="just" marL="505463" indent="-252732" lvl="1">
              <a:lnSpc>
                <a:spcPts val="3277"/>
              </a:lnSpc>
              <a:spcBef>
                <a:spcPct val="0"/>
              </a:spcBef>
              <a:buFont typeface="Arial"/>
              <a:buChar char="•"/>
            </a:pPr>
            <a:r>
              <a:rPr lang="en-US" sz="2341" spc="14">
                <a:solidFill>
                  <a:srgbClr val="000000"/>
                </a:solidFill>
                <a:latin typeface="Roboto Mono"/>
                <a:ea typeface="Roboto Mono"/>
                <a:cs typeface="Roboto Mono"/>
                <a:sym typeface="Roboto Mono"/>
              </a:rPr>
              <a:t>Resistencia al cambio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171740" y="5490257"/>
            <a:ext cx="8888844" cy="9075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7393"/>
              </a:lnSpc>
              <a:spcBef>
                <a:spcPct val="0"/>
              </a:spcBef>
            </a:pPr>
            <a:r>
              <a:rPr lang="en-US" b="true" sz="5281" spc="644">
                <a:solidFill>
                  <a:srgbClr val="000000"/>
                </a:solidFill>
                <a:latin typeface="Barlow Bold"/>
                <a:ea typeface="Barlow Bold"/>
                <a:cs typeface="Barlow Bold"/>
                <a:sym typeface="Barlow Bold"/>
              </a:rPr>
              <a:t>ALCANCES FUTUROS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028700" y="6368022"/>
            <a:ext cx="9171209" cy="16169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505463" indent="-252732" lvl="1">
              <a:lnSpc>
                <a:spcPts val="3277"/>
              </a:lnSpc>
              <a:buFont typeface="Arial"/>
              <a:buChar char="•"/>
            </a:pPr>
            <a:r>
              <a:rPr lang="en-US" sz="2341" spc="14">
                <a:solidFill>
                  <a:srgbClr val="000000"/>
                </a:solidFill>
                <a:latin typeface="Roboto Mono"/>
                <a:ea typeface="Roboto Mono"/>
                <a:cs typeface="Roboto Mono"/>
                <a:sym typeface="Roboto Mono"/>
              </a:rPr>
              <a:t>Integración con sistemas municipales externos.</a:t>
            </a:r>
          </a:p>
          <a:p>
            <a:pPr algn="just" marL="505463" indent="-252732" lvl="1">
              <a:lnSpc>
                <a:spcPts val="3277"/>
              </a:lnSpc>
              <a:buFont typeface="Arial"/>
              <a:buChar char="•"/>
            </a:pPr>
            <a:r>
              <a:rPr lang="en-US" sz="2341" spc="14">
                <a:solidFill>
                  <a:srgbClr val="000000"/>
                </a:solidFill>
                <a:latin typeface="Roboto Mono"/>
                <a:ea typeface="Roboto Mono"/>
                <a:cs typeface="Roboto Mono"/>
                <a:sym typeface="Roboto Mono"/>
              </a:rPr>
              <a:t>Pago en línea para reservas o cuotas.</a:t>
            </a:r>
          </a:p>
          <a:p>
            <a:pPr algn="just" marL="505463" indent="-252732" lvl="1">
              <a:lnSpc>
                <a:spcPts val="3277"/>
              </a:lnSpc>
              <a:spcBef>
                <a:spcPct val="0"/>
              </a:spcBef>
              <a:buFont typeface="Arial"/>
              <a:buChar char="•"/>
            </a:pPr>
            <a:r>
              <a:rPr lang="en-US" sz="2341" spc="14">
                <a:solidFill>
                  <a:srgbClr val="000000"/>
                </a:solidFill>
                <a:latin typeface="Roboto Mono"/>
                <a:ea typeface="Roboto Mono"/>
                <a:cs typeface="Roboto Mono"/>
                <a:sym typeface="Roboto Mono"/>
              </a:rPr>
              <a:t>Aplicación móvil nativa (la prioridad es web responsiva).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61675" y="8510838"/>
            <a:ext cx="4332914" cy="5416143"/>
          </a:xfrm>
          <a:custGeom>
            <a:avLst/>
            <a:gdLst/>
            <a:ahLst/>
            <a:cxnLst/>
            <a:rect r="r" b="b" t="t" l="l"/>
            <a:pathLst>
              <a:path h="5416143" w="4332914">
                <a:moveTo>
                  <a:pt x="0" y="0"/>
                </a:moveTo>
                <a:lnTo>
                  <a:pt x="4332914" y="0"/>
                </a:lnTo>
                <a:lnTo>
                  <a:pt x="4332914" y="5416143"/>
                </a:lnTo>
                <a:lnTo>
                  <a:pt x="0" y="541614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727159" y="1168521"/>
            <a:ext cx="14833682" cy="8955835"/>
          </a:xfrm>
          <a:custGeom>
            <a:avLst/>
            <a:gdLst/>
            <a:ahLst/>
            <a:cxnLst/>
            <a:rect r="r" b="b" t="t" l="l"/>
            <a:pathLst>
              <a:path h="8955835" w="14833682">
                <a:moveTo>
                  <a:pt x="0" y="0"/>
                </a:moveTo>
                <a:lnTo>
                  <a:pt x="14833682" y="0"/>
                </a:lnTo>
                <a:lnTo>
                  <a:pt x="14833682" y="8955835"/>
                </a:lnTo>
                <a:lnTo>
                  <a:pt x="0" y="89558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5072211" y="166241"/>
            <a:ext cx="8143577" cy="8624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7062"/>
              </a:lnSpc>
              <a:spcBef>
                <a:spcPct val="0"/>
              </a:spcBef>
            </a:pPr>
            <a:r>
              <a:rPr lang="en-US" b="true" sz="5044" spc="615">
                <a:solidFill>
                  <a:srgbClr val="7ED957"/>
                </a:solidFill>
                <a:latin typeface="Barlow Bold"/>
                <a:ea typeface="Barlow Bold"/>
                <a:cs typeface="Barlow Bold"/>
                <a:sym typeface="Barlow Bold"/>
              </a:rPr>
              <a:t>PROCESOS DE NEGOCIO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4061260" y="0"/>
            <a:ext cx="4226740" cy="1056685"/>
          </a:xfrm>
          <a:custGeom>
            <a:avLst/>
            <a:gdLst/>
            <a:ahLst/>
            <a:cxnLst/>
            <a:rect r="r" b="b" t="t" l="l"/>
            <a:pathLst>
              <a:path h="1056685" w="4226740">
                <a:moveTo>
                  <a:pt x="0" y="0"/>
                </a:moveTo>
                <a:lnTo>
                  <a:pt x="4226740" y="0"/>
                </a:lnTo>
                <a:lnTo>
                  <a:pt x="4226740" y="1056685"/>
                </a:lnTo>
                <a:lnTo>
                  <a:pt x="0" y="105668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61675" y="8510838"/>
            <a:ext cx="4332914" cy="5416143"/>
          </a:xfrm>
          <a:custGeom>
            <a:avLst/>
            <a:gdLst/>
            <a:ahLst/>
            <a:cxnLst/>
            <a:rect r="r" b="b" t="t" l="l"/>
            <a:pathLst>
              <a:path h="5416143" w="4332914">
                <a:moveTo>
                  <a:pt x="0" y="0"/>
                </a:moveTo>
                <a:lnTo>
                  <a:pt x="4332914" y="0"/>
                </a:lnTo>
                <a:lnTo>
                  <a:pt x="4332914" y="5416143"/>
                </a:lnTo>
                <a:lnTo>
                  <a:pt x="0" y="541614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875608" y="1610037"/>
            <a:ext cx="16536785" cy="7648263"/>
          </a:xfrm>
          <a:custGeom>
            <a:avLst/>
            <a:gdLst/>
            <a:ahLst/>
            <a:cxnLst/>
            <a:rect r="r" b="b" t="t" l="l"/>
            <a:pathLst>
              <a:path h="7648263" w="16536785">
                <a:moveTo>
                  <a:pt x="0" y="0"/>
                </a:moveTo>
                <a:lnTo>
                  <a:pt x="16536784" y="0"/>
                </a:lnTo>
                <a:lnTo>
                  <a:pt x="16536784" y="7648263"/>
                </a:lnTo>
                <a:lnTo>
                  <a:pt x="0" y="764826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5072211" y="577830"/>
            <a:ext cx="8143577" cy="8624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7062"/>
              </a:lnSpc>
              <a:spcBef>
                <a:spcPct val="0"/>
              </a:spcBef>
            </a:pPr>
            <a:r>
              <a:rPr lang="en-US" b="true" sz="5044" spc="615">
                <a:solidFill>
                  <a:srgbClr val="7ED957"/>
                </a:solidFill>
                <a:latin typeface="Barlow Bold"/>
                <a:ea typeface="Barlow Bold"/>
                <a:cs typeface="Barlow Bold"/>
                <a:sym typeface="Barlow Bold"/>
              </a:rPr>
              <a:t>PROCESOS DE NEGOCIO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4061260" y="0"/>
            <a:ext cx="4226740" cy="1056685"/>
          </a:xfrm>
          <a:custGeom>
            <a:avLst/>
            <a:gdLst/>
            <a:ahLst/>
            <a:cxnLst/>
            <a:rect r="r" b="b" t="t" l="l"/>
            <a:pathLst>
              <a:path h="1056685" w="4226740">
                <a:moveTo>
                  <a:pt x="0" y="0"/>
                </a:moveTo>
                <a:lnTo>
                  <a:pt x="4226740" y="0"/>
                </a:lnTo>
                <a:lnTo>
                  <a:pt x="4226740" y="1056685"/>
                </a:lnTo>
                <a:lnTo>
                  <a:pt x="0" y="105668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61675" y="8510838"/>
            <a:ext cx="4332914" cy="5416143"/>
          </a:xfrm>
          <a:custGeom>
            <a:avLst/>
            <a:gdLst/>
            <a:ahLst/>
            <a:cxnLst/>
            <a:rect r="r" b="b" t="t" l="l"/>
            <a:pathLst>
              <a:path h="5416143" w="4332914">
                <a:moveTo>
                  <a:pt x="0" y="0"/>
                </a:moveTo>
                <a:lnTo>
                  <a:pt x="4332914" y="0"/>
                </a:lnTo>
                <a:lnTo>
                  <a:pt x="4332914" y="5416143"/>
                </a:lnTo>
                <a:lnTo>
                  <a:pt x="0" y="541614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864900" y="1542454"/>
            <a:ext cx="14558200" cy="7715846"/>
          </a:xfrm>
          <a:custGeom>
            <a:avLst/>
            <a:gdLst/>
            <a:ahLst/>
            <a:cxnLst/>
            <a:rect r="r" b="b" t="t" l="l"/>
            <a:pathLst>
              <a:path h="7715846" w="14558200">
                <a:moveTo>
                  <a:pt x="0" y="0"/>
                </a:moveTo>
                <a:lnTo>
                  <a:pt x="14558200" y="0"/>
                </a:lnTo>
                <a:lnTo>
                  <a:pt x="14558200" y="7715846"/>
                </a:lnTo>
                <a:lnTo>
                  <a:pt x="0" y="77158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5072211" y="433093"/>
            <a:ext cx="8143577" cy="8624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7062"/>
              </a:lnSpc>
              <a:spcBef>
                <a:spcPct val="0"/>
              </a:spcBef>
            </a:pPr>
            <a:r>
              <a:rPr lang="en-US" b="true" sz="5044" spc="615">
                <a:solidFill>
                  <a:srgbClr val="7ED957"/>
                </a:solidFill>
                <a:latin typeface="Barlow Bold"/>
                <a:ea typeface="Barlow Bold"/>
                <a:cs typeface="Barlow Bold"/>
                <a:sym typeface="Barlow Bold"/>
              </a:rPr>
              <a:t>PROCESOS DE NEGOCIO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4061260" y="0"/>
            <a:ext cx="4226740" cy="1056685"/>
          </a:xfrm>
          <a:custGeom>
            <a:avLst/>
            <a:gdLst/>
            <a:ahLst/>
            <a:cxnLst/>
            <a:rect r="r" b="b" t="t" l="l"/>
            <a:pathLst>
              <a:path h="1056685" w="4226740">
                <a:moveTo>
                  <a:pt x="0" y="0"/>
                </a:moveTo>
                <a:lnTo>
                  <a:pt x="4226740" y="0"/>
                </a:lnTo>
                <a:lnTo>
                  <a:pt x="4226740" y="1056685"/>
                </a:lnTo>
                <a:lnTo>
                  <a:pt x="0" y="105668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674789" y="522845"/>
            <a:ext cx="17651924" cy="11760594"/>
          </a:xfrm>
          <a:custGeom>
            <a:avLst/>
            <a:gdLst/>
            <a:ahLst/>
            <a:cxnLst/>
            <a:rect r="r" b="b" t="t" l="l"/>
            <a:pathLst>
              <a:path h="11760594" w="17651924">
                <a:moveTo>
                  <a:pt x="0" y="0"/>
                </a:moveTo>
                <a:lnTo>
                  <a:pt x="17651923" y="0"/>
                </a:lnTo>
                <a:lnTo>
                  <a:pt x="17651923" y="11760594"/>
                </a:lnTo>
                <a:lnTo>
                  <a:pt x="0" y="1176059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4745758" y="1051075"/>
            <a:ext cx="1680136" cy="464138"/>
          </a:xfrm>
          <a:custGeom>
            <a:avLst/>
            <a:gdLst/>
            <a:ahLst/>
            <a:cxnLst/>
            <a:rect r="r" b="b" t="t" l="l"/>
            <a:pathLst>
              <a:path h="464138" w="1680136">
                <a:moveTo>
                  <a:pt x="0" y="0"/>
                </a:moveTo>
                <a:lnTo>
                  <a:pt x="1680136" y="0"/>
                </a:lnTo>
                <a:lnTo>
                  <a:pt x="1680136" y="464138"/>
                </a:lnTo>
                <a:lnTo>
                  <a:pt x="0" y="4641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4" id="4"/>
          <p:cNvSpPr/>
          <p:nvPr/>
        </p:nvSpPr>
        <p:spPr>
          <a:xfrm flipH="false" flipV="false" rot="0">
            <a:off x="1028700" y="4164839"/>
            <a:ext cx="10866383" cy="4746529"/>
          </a:xfrm>
          <a:custGeom>
            <a:avLst/>
            <a:gdLst/>
            <a:ahLst/>
            <a:cxnLst/>
            <a:rect r="r" b="b" t="t" l="l"/>
            <a:pathLst>
              <a:path h="4746529" w="10866383">
                <a:moveTo>
                  <a:pt x="0" y="0"/>
                </a:moveTo>
                <a:lnTo>
                  <a:pt x="10866383" y="0"/>
                </a:lnTo>
                <a:lnTo>
                  <a:pt x="10866383" y="4746529"/>
                </a:lnTo>
                <a:lnTo>
                  <a:pt x="0" y="474652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6651" t="-1273" r="0" b="-1273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926843" y="479701"/>
            <a:ext cx="10338290" cy="32259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2965"/>
              </a:lnSpc>
              <a:spcBef>
                <a:spcPct val="0"/>
              </a:spcBef>
            </a:pPr>
            <a:r>
              <a:rPr lang="en-US" b="true" sz="9260" spc="1129">
                <a:solidFill>
                  <a:srgbClr val="7ED957"/>
                </a:solidFill>
                <a:latin typeface="Barlow Bold"/>
                <a:ea typeface="Barlow Bold"/>
                <a:cs typeface="Barlow Bold"/>
                <a:sym typeface="Barlow Bold"/>
              </a:rPr>
              <a:t>METODOLOGIA SCRUMBAN</a:t>
            </a:r>
          </a:p>
        </p:txBody>
      </p:sp>
      <p:sp>
        <p:nvSpPr>
          <p:cNvPr name="Freeform 6" id="6"/>
          <p:cNvSpPr/>
          <p:nvPr/>
        </p:nvSpPr>
        <p:spPr>
          <a:xfrm flipH="false" flipV="false" rot="0">
            <a:off x="14061260" y="0"/>
            <a:ext cx="4226740" cy="1056685"/>
          </a:xfrm>
          <a:custGeom>
            <a:avLst/>
            <a:gdLst/>
            <a:ahLst/>
            <a:cxnLst/>
            <a:rect r="r" b="b" t="t" l="l"/>
            <a:pathLst>
              <a:path h="1056685" w="4226740">
                <a:moveTo>
                  <a:pt x="0" y="0"/>
                </a:moveTo>
                <a:lnTo>
                  <a:pt x="4226740" y="0"/>
                </a:lnTo>
                <a:lnTo>
                  <a:pt x="4226740" y="1056685"/>
                </a:lnTo>
                <a:lnTo>
                  <a:pt x="0" y="105668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448128" y="5657639"/>
            <a:ext cx="1159006" cy="4954684"/>
            <a:chOff x="0" y="0"/>
            <a:chExt cx="662592" cy="283254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62592" cy="2832544"/>
            </a:xfrm>
            <a:custGeom>
              <a:avLst/>
              <a:gdLst/>
              <a:ahLst/>
              <a:cxnLst/>
              <a:rect r="r" b="b" t="t" l="l"/>
              <a:pathLst>
                <a:path h="2832544" w="662592">
                  <a:moveTo>
                    <a:pt x="0" y="0"/>
                  </a:moveTo>
                  <a:lnTo>
                    <a:pt x="662592" y="0"/>
                  </a:lnTo>
                  <a:lnTo>
                    <a:pt x="662592" y="2832544"/>
                  </a:lnTo>
                  <a:lnTo>
                    <a:pt x="0" y="2832544"/>
                  </a:lnTo>
                  <a:close/>
                </a:path>
              </a:pathLst>
            </a:custGeom>
            <a:solidFill>
              <a:srgbClr val="7ED957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662592" cy="2870644"/>
            </a:xfrm>
            <a:prstGeom prst="rect">
              <a:avLst/>
            </a:prstGeom>
          </p:spPr>
          <p:txBody>
            <a:bodyPr anchor="ctr" rtlCol="false" tIns="31845" lIns="31845" bIns="31845" rIns="31845"/>
            <a:lstStyle/>
            <a:p>
              <a:pPr algn="ctr">
                <a:lnSpc>
                  <a:spcPts val="1228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844290" y="1753363"/>
            <a:ext cx="16817786" cy="7504937"/>
          </a:xfrm>
          <a:custGeom>
            <a:avLst/>
            <a:gdLst/>
            <a:ahLst/>
            <a:cxnLst/>
            <a:rect r="r" b="b" t="t" l="l"/>
            <a:pathLst>
              <a:path h="7504937" w="16817786">
                <a:moveTo>
                  <a:pt x="0" y="0"/>
                </a:moveTo>
                <a:lnTo>
                  <a:pt x="16817785" y="0"/>
                </a:lnTo>
                <a:lnTo>
                  <a:pt x="16817785" y="7504937"/>
                </a:lnTo>
                <a:lnTo>
                  <a:pt x="0" y="750493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6404051" y="522581"/>
            <a:ext cx="5479898" cy="7007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601"/>
              </a:lnSpc>
              <a:spcBef>
                <a:spcPct val="0"/>
              </a:spcBef>
            </a:pPr>
            <a:r>
              <a:rPr lang="en-US" b="true" sz="4000" spc="488">
                <a:solidFill>
                  <a:srgbClr val="7ED957"/>
                </a:solidFill>
                <a:latin typeface="Barlow Bold"/>
                <a:ea typeface="Barlow Bold"/>
                <a:cs typeface="Barlow Bold"/>
                <a:sym typeface="Barlow Bold"/>
              </a:rPr>
              <a:t>PRODUCT BACKLOG</a:t>
            </a:r>
          </a:p>
        </p:txBody>
      </p:sp>
      <p:sp>
        <p:nvSpPr>
          <p:cNvPr name="Freeform 7" id="7"/>
          <p:cNvSpPr/>
          <p:nvPr/>
        </p:nvSpPr>
        <p:spPr>
          <a:xfrm flipH="false" flipV="false" rot="0">
            <a:off x="14061260" y="0"/>
            <a:ext cx="4226740" cy="1056685"/>
          </a:xfrm>
          <a:custGeom>
            <a:avLst/>
            <a:gdLst/>
            <a:ahLst/>
            <a:cxnLst/>
            <a:rect r="r" b="b" t="t" l="l"/>
            <a:pathLst>
              <a:path h="1056685" w="4226740">
                <a:moveTo>
                  <a:pt x="0" y="0"/>
                </a:moveTo>
                <a:lnTo>
                  <a:pt x="4226740" y="0"/>
                </a:lnTo>
                <a:lnTo>
                  <a:pt x="4226740" y="1056685"/>
                </a:lnTo>
                <a:lnTo>
                  <a:pt x="0" y="10566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448128" y="5657639"/>
            <a:ext cx="1159006" cy="4954684"/>
            <a:chOff x="0" y="0"/>
            <a:chExt cx="662592" cy="283254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62592" cy="2832544"/>
            </a:xfrm>
            <a:custGeom>
              <a:avLst/>
              <a:gdLst/>
              <a:ahLst/>
              <a:cxnLst/>
              <a:rect r="r" b="b" t="t" l="l"/>
              <a:pathLst>
                <a:path h="2832544" w="662592">
                  <a:moveTo>
                    <a:pt x="0" y="0"/>
                  </a:moveTo>
                  <a:lnTo>
                    <a:pt x="662592" y="0"/>
                  </a:lnTo>
                  <a:lnTo>
                    <a:pt x="662592" y="2832544"/>
                  </a:lnTo>
                  <a:lnTo>
                    <a:pt x="0" y="2832544"/>
                  </a:lnTo>
                  <a:close/>
                </a:path>
              </a:pathLst>
            </a:custGeom>
            <a:solidFill>
              <a:srgbClr val="7ED957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662592" cy="2870644"/>
            </a:xfrm>
            <a:prstGeom prst="rect">
              <a:avLst/>
            </a:prstGeom>
          </p:spPr>
          <p:txBody>
            <a:bodyPr anchor="ctr" rtlCol="false" tIns="31845" lIns="31845" bIns="31845" rIns="31845"/>
            <a:lstStyle/>
            <a:p>
              <a:pPr algn="ctr">
                <a:lnSpc>
                  <a:spcPts val="1228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2449141" y="1416354"/>
            <a:ext cx="6065038" cy="8482571"/>
          </a:xfrm>
          <a:custGeom>
            <a:avLst/>
            <a:gdLst/>
            <a:ahLst/>
            <a:cxnLst/>
            <a:rect r="r" b="b" t="t" l="l"/>
            <a:pathLst>
              <a:path h="8482571" w="6065038">
                <a:moveTo>
                  <a:pt x="0" y="0"/>
                </a:moveTo>
                <a:lnTo>
                  <a:pt x="6065038" y="0"/>
                </a:lnTo>
                <a:lnTo>
                  <a:pt x="6065038" y="8482571"/>
                </a:lnTo>
                <a:lnTo>
                  <a:pt x="0" y="848257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0041659" y="1416354"/>
            <a:ext cx="6035497" cy="8485761"/>
          </a:xfrm>
          <a:custGeom>
            <a:avLst/>
            <a:gdLst/>
            <a:ahLst/>
            <a:cxnLst/>
            <a:rect r="r" b="b" t="t" l="l"/>
            <a:pathLst>
              <a:path h="8485761" w="6035497">
                <a:moveTo>
                  <a:pt x="0" y="0"/>
                </a:moveTo>
                <a:lnTo>
                  <a:pt x="6035497" y="0"/>
                </a:lnTo>
                <a:lnTo>
                  <a:pt x="6035497" y="8485760"/>
                </a:lnTo>
                <a:lnTo>
                  <a:pt x="0" y="848576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5228592" y="330221"/>
            <a:ext cx="7830815" cy="6984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601"/>
              </a:lnSpc>
              <a:spcBef>
                <a:spcPct val="0"/>
              </a:spcBef>
            </a:pPr>
            <a:r>
              <a:rPr lang="en-US" b="true" sz="4000" spc="488">
                <a:solidFill>
                  <a:srgbClr val="7ED957"/>
                </a:solidFill>
                <a:latin typeface="Barlow Bold"/>
                <a:ea typeface="Barlow Bold"/>
                <a:cs typeface="Barlow Bold"/>
                <a:sym typeface="Barlow Bold"/>
              </a:rPr>
              <a:t>HISTORIAS DE USUARIO</a:t>
            </a:r>
          </a:p>
        </p:txBody>
      </p:sp>
      <p:sp>
        <p:nvSpPr>
          <p:cNvPr name="Freeform 8" id="8"/>
          <p:cNvSpPr/>
          <p:nvPr/>
        </p:nvSpPr>
        <p:spPr>
          <a:xfrm flipH="false" flipV="false" rot="0">
            <a:off x="14061260" y="0"/>
            <a:ext cx="4226740" cy="1056685"/>
          </a:xfrm>
          <a:custGeom>
            <a:avLst/>
            <a:gdLst/>
            <a:ahLst/>
            <a:cxnLst/>
            <a:rect r="r" b="b" t="t" l="l"/>
            <a:pathLst>
              <a:path h="1056685" w="4226740">
                <a:moveTo>
                  <a:pt x="0" y="0"/>
                </a:moveTo>
                <a:lnTo>
                  <a:pt x="4226740" y="0"/>
                </a:lnTo>
                <a:lnTo>
                  <a:pt x="4226740" y="1056685"/>
                </a:lnTo>
                <a:lnTo>
                  <a:pt x="0" y="105668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717876" y="2920042"/>
            <a:ext cx="4632892" cy="1484456"/>
          </a:xfrm>
          <a:custGeom>
            <a:avLst/>
            <a:gdLst/>
            <a:ahLst/>
            <a:cxnLst/>
            <a:rect r="r" b="b" t="t" l="l"/>
            <a:pathLst>
              <a:path h="1484456" w="4632892">
                <a:moveTo>
                  <a:pt x="0" y="0"/>
                </a:moveTo>
                <a:lnTo>
                  <a:pt x="4632893" y="0"/>
                </a:lnTo>
                <a:lnTo>
                  <a:pt x="4632893" y="1484456"/>
                </a:lnTo>
                <a:lnTo>
                  <a:pt x="0" y="148445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4510572" y="6582021"/>
            <a:ext cx="4632892" cy="1484456"/>
          </a:xfrm>
          <a:custGeom>
            <a:avLst/>
            <a:gdLst/>
            <a:ahLst/>
            <a:cxnLst/>
            <a:rect r="r" b="b" t="t" l="l"/>
            <a:pathLst>
              <a:path h="1484456" w="4632892">
                <a:moveTo>
                  <a:pt x="0" y="0"/>
                </a:moveTo>
                <a:lnTo>
                  <a:pt x="4632893" y="0"/>
                </a:lnTo>
                <a:lnTo>
                  <a:pt x="4632893" y="1484456"/>
                </a:lnTo>
                <a:lnTo>
                  <a:pt x="0" y="148445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6828089" y="2920042"/>
            <a:ext cx="4632892" cy="1484456"/>
          </a:xfrm>
          <a:custGeom>
            <a:avLst/>
            <a:gdLst/>
            <a:ahLst/>
            <a:cxnLst/>
            <a:rect r="r" b="b" t="t" l="l"/>
            <a:pathLst>
              <a:path h="1484456" w="4632892">
                <a:moveTo>
                  <a:pt x="0" y="0"/>
                </a:moveTo>
                <a:lnTo>
                  <a:pt x="4632892" y="0"/>
                </a:lnTo>
                <a:lnTo>
                  <a:pt x="4632892" y="1484456"/>
                </a:lnTo>
                <a:lnTo>
                  <a:pt x="0" y="148445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0355247" y="6582021"/>
            <a:ext cx="4632892" cy="1484456"/>
          </a:xfrm>
          <a:custGeom>
            <a:avLst/>
            <a:gdLst/>
            <a:ahLst/>
            <a:cxnLst/>
            <a:rect r="r" b="b" t="t" l="l"/>
            <a:pathLst>
              <a:path h="1484456" w="4632892">
                <a:moveTo>
                  <a:pt x="0" y="0"/>
                </a:moveTo>
                <a:lnTo>
                  <a:pt x="4632892" y="0"/>
                </a:lnTo>
                <a:lnTo>
                  <a:pt x="4632892" y="1484456"/>
                </a:lnTo>
                <a:lnTo>
                  <a:pt x="0" y="148445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1937231" y="2920042"/>
            <a:ext cx="4632892" cy="1484456"/>
          </a:xfrm>
          <a:custGeom>
            <a:avLst/>
            <a:gdLst/>
            <a:ahLst/>
            <a:cxnLst/>
            <a:rect r="r" b="b" t="t" l="l"/>
            <a:pathLst>
              <a:path h="1484456" w="4632892">
                <a:moveTo>
                  <a:pt x="0" y="0"/>
                </a:moveTo>
                <a:lnTo>
                  <a:pt x="4632893" y="0"/>
                </a:lnTo>
                <a:lnTo>
                  <a:pt x="4632893" y="1484456"/>
                </a:lnTo>
                <a:lnTo>
                  <a:pt x="0" y="148445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0" y="856107"/>
            <a:ext cx="5933725" cy="924672"/>
          </a:xfrm>
          <a:custGeom>
            <a:avLst/>
            <a:gdLst/>
            <a:ahLst/>
            <a:cxnLst/>
            <a:rect r="r" b="b" t="t" l="l"/>
            <a:pathLst>
              <a:path h="924672" w="5933725">
                <a:moveTo>
                  <a:pt x="0" y="0"/>
                </a:moveTo>
                <a:lnTo>
                  <a:pt x="5933725" y="0"/>
                </a:lnTo>
                <a:lnTo>
                  <a:pt x="5933725" y="924672"/>
                </a:lnTo>
                <a:lnTo>
                  <a:pt x="0" y="92467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2671693" y="1303459"/>
            <a:ext cx="5616307" cy="634175"/>
          </a:xfrm>
          <a:custGeom>
            <a:avLst/>
            <a:gdLst/>
            <a:ahLst/>
            <a:cxnLst/>
            <a:rect r="r" b="b" t="t" l="l"/>
            <a:pathLst>
              <a:path h="634175" w="5616307">
                <a:moveTo>
                  <a:pt x="0" y="0"/>
                </a:moveTo>
                <a:lnTo>
                  <a:pt x="5616307" y="0"/>
                </a:lnTo>
                <a:lnTo>
                  <a:pt x="5616307" y="634175"/>
                </a:lnTo>
                <a:lnTo>
                  <a:pt x="0" y="63417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5615237" y="865632"/>
            <a:ext cx="7056457" cy="19008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487"/>
              </a:lnSpc>
            </a:pPr>
            <a:r>
              <a:rPr lang="en-US" b="true" sz="6399">
                <a:solidFill>
                  <a:srgbClr val="7ED957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TECNOLOGIAS UTILIZADAS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2452338" y="3368900"/>
            <a:ext cx="3163969" cy="5962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679"/>
              </a:lnSpc>
            </a:pPr>
            <a:r>
              <a:rPr lang="en-US" sz="3999" spc="199">
                <a:solidFill>
                  <a:srgbClr val="7ED957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BACKEND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5245034" y="7030879"/>
            <a:ext cx="3163969" cy="5962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679"/>
              </a:lnSpc>
            </a:pPr>
            <a:r>
              <a:rPr lang="en-US" sz="3999" spc="199">
                <a:solidFill>
                  <a:srgbClr val="7ED957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DESPLIEGUE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7562551" y="3368900"/>
            <a:ext cx="3163969" cy="5962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679"/>
              </a:lnSpc>
            </a:pPr>
            <a:r>
              <a:rPr lang="en-US" sz="3999" spc="199">
                <a:solidFill>
                  <a:srgbClr val="7ED957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FRONTEND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1141699" y="6677271"/>
            <a:ext cx="3163969" cy="11868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679"/>
              </a:lnSpc>
            </a:pPr>
            <a:r>
              <a:rPr lang="en-US" sz="3999" spc="199">
                <a:solidFill>
                  <a:srgbClr val="7ED957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CONTROL DE VERSIONES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2671693" y="3368900"/>
            <a:ext cx="3163969" cy="5962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679"/>
              </a:lnSpc>
            </a:pPr>
            <a:r>
              <a:rPr lang="en-US" sz="3999" spc="199">
                <a:solidFill>
                  <a:srgbClr val="7ED957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BASE DATOS</a:t>
            </a:r>
          </a:p>
        </p:txBody>
      </p:sp>
      <p:sp>
        <p:nvSpPr>
          <p:cNvPr name="Freeform 15" id="15"/>
          <p:cNvSpPr/>
          <p:nvPr/>
        </p:nvSpPr>
        <p:spPr>
          <a:xfrm flipH="false" flipV="false" rot="0">
            <a:off x="3079364" y="4519703"/>
            <a:ext cx="1909918" cy="1909918"/>
          </a:xfrm>
          <a:custGeom>
            <a:avLst/>
            <a:gdLst/>
            <a:ahLst/>
            <a:cxnLst/>
            <a:rect r="r" b="b" t="t" l="l"/>
            <a:pathLst>
              <a:path h="1909918" w="1909918">
                <a:moveTo>
                  <a:pt x="0" y="0"/>
                </a:moveTo>
                <a:lnTo>
                  <a:pt x="1909917" y="0"/>
                </a:lnTo>
                <a:lnTo>
                  <a:pt x="1909917" y="1909918"/>
                </a:lnTo>
                <a:lnTo>
                  <a:pt x="0" y="190991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0">
            <a:off x="2613851" y="3936590"/>
            <a:ext cx="2798340" cy="2452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47"/>
              </a:lnSpc>
              <a:spcBef>
                <a:spcPct val="0"/>
              </a:spcBef>
            </a:pPr>
            <a:r>
              <a:rPr lang="en-US" sz="1462" spc="8">
                <a:solidFill>
                  <a:srgbClr val="7ED957"/>
                </a:solidFill>
                <a:latin typeface="Roboto Mono"/>
                <a:ea typeface="Roboto Mono"/>
                <a:cs typeface="Roboto Mono"/>
                <a:sym typeface="Roboto Mono"/>
              </a:rPr>
              <a:t>Python/FastAPI</a:t>
            </a:r>
          </a:p>
        </p:txBody>
      </p:sp>
      <p:sp>
        <p:nvSpPr>
          <p:cNvPr name="Freeform 17" id="17"/>
          <p:cNvSpPr/>
          <p:nvPr/>
        </p:nvSpPr>
        <p:spPr>
          <a:xfrm flipH="false" flipV="false" rot="0">
            <a:off x="8452331" y="4538300"/>
            <a:ext cx="1780789" cy="1872723"/>
          </a:xfrm>
          <a:custGeom>
            <a:avLst/>
            <a:gdLst/>
            <a:ahLst/>
            <a:cxnLst/>
            <a:rect r="r" b="b" t="t" l="l"/>
            <a:pathLst>
              <a:path h="1872723" w="1780789">
                <a:moveTo>
                  <a:pt x="0" y="0"/>
                </a:moveTo>
                <a:lnTo>
                  <a:pt x="1780790" y="0"/>
                </a:lnTo>
                <a:lnTo>
                  <a:pt x="1780790" y="1872723"/>
                </a:lnTo>
                <a:lnTo>
                  <a:pt x="0" y="1872723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8" id="18"/>
          <p:cNvSpPr txBox="true"/>
          <p:nvPr/>
        </p:nvSpPr>
        <p:spPr>
          <a:xfrm rot="0">
            <a:off x="7744295" y="3936590"/>
            <a:ext cx="2798340" cy="2452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47"/>
              </a:lnSpc>
              <a:spcBef>
                <a:spcPct val="0"/>
              </a:spcBef>
            </a:pPr>
            <a:r>
              <a:rPr lang="en-US" sz="1462" spc="8">
                <a:solidFill>
                  <a:srgbClr val="7ED957"/>
                </a:solidFill>
                <a:latin typeface="Roboto Mono"/>
                <a:ea typeface="Roboto Mono"/>
                <a:cs typeface="Roboto Mono"/>
                <a:sym typeface="Roboto Mono"/>
              </a:rPr>
              <a:t>Angular - Tailwind</a:t>
            </a:r>
          </a:p>
        </p:txBody>
      </p:sp>
      <p:sp>
        <p:nvSpPr>
          <p:cNvPr name="Freeform 19" id="19"/>
          <p:cNvSpPr/>
          <p:nvPr/>
        </p:nvSpPr>
        <p:spPr>
          <a:xfrm flipH="false" flipV="false" rot="0">
            <a:off x="13293608" y="4430976"/>
            <a:ext cx="2024119" cy="2087372"/>
          </a:xfrm>
          <a:custGeom>
            <a:avLst/>
            <a:gdLst/>
            <a:ahLst/>
            <a:cxnLst/>
            <a:rect r="r" b="b" t="t" l="l"/>
            <a:pathLst>
              <a:path h="2087372" w="2024119">
                <a:moveTo>
                  <a:pt x="0" y="0"/>
                </a:moveTo>
                <a:lnTo>
                  <a:pt x="2024119" y="0"/>
                </a:lnTo>
                <a:lnTo>
                  <a:pt x="2024119" y="2087372"/>
                </a:lnTo>
                <a:lnTo>
                  <a:pt x="0" y="2087372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TextBox 20" id="20"/>
          <p:cNvSpPr txBox="true"/>
          <p:nvPr/>
        </p:nvSpPr>
        <p:spPr>
          <a:xfrm rot="0">
            <a:off x="12906497" y="3936590"/>
            <a:ext cx="2798340" cy="2452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47"/>
              </a:lnSpc>
              <a:spcBef>
                <a:spcPct val="0"/>
              </a:spcBef>
            </a:pPr>
            <a:r>
              <a:rPr lang="en-US" sz="1462" spc="8">
                <a:solidFill>
                  <a:srgbClr val="7ED957"/>
                </a:solidFill>
                <a:latin typeface="Roboto Mono"/>
                <a:ea typeface="Roboto Mono"/>
                <a:cs typeface="Roboto Mono"/>
                <a:sym typeface="Roboto Mono"/>
              </a:rPr>
              <a:t>PostgreSQL</a:t>
            </a:r>
          </a:p>
        </p:txBody>
      </p:sp>
      <p:sp>
        <p:nvSpPr>
          <p:cNvPr name="Freeform 21" id="21"/>
          <p:cNvSpPr/>
          <p:nvPr/>
        </p:nvSpPr>
        <p:spPr>
          <a:xfrm flipH="false" flipV="false" rot="0">
            <a:off x="5890169" y="8218877"/>
            <a:ext cx="1854126" cy="1854126"/>
          </a:xfrm>
          <a:custGeom>
            <a:avLst/>
            <a:gdLst/>
            <a:ahLst/>
            <a:cxnLst/>
            <a:rect r="r" b="b" t="t" l="l"/>
            <a:pathLst>
              <a:path h="1854126" w="1854126">
                <a:moveTo>
                  <a:pt x="0" y="0"/>
                </a:moveTo>
                <a:lnTo>
                  <a:pt x="1854126" y="0"/>
                </a:lnTo>
                <a:lnTo>
                  <a:pt x="1854126" y="1854125"/>
                </a:lnTo>
                <a:lnTo>
                  <a:pt x="0" y="185412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</p:sp>
      <p:sp>
        <p:nvSpPr>
          <p:cNvPr name="TextBox 22" id="22"/>
          <p:cNvSpPr txBox="true"/>
          <p:nvPr/>
        </p:nvSpPr>
        <p:spPr>
          <a:xfrm rot="0">
            <a:off x="5427849" y="7668696"/>
            <a:ext cx="2798340" cy="2452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47"/>
              </a:lnSpc>
              <a:spcBef>
                <a:spcPct val="0"/>
              </a:spcBef>
            </a:pPr>
            <a:r>
              <a:rPr lang="en-US" sz="1462" spc="8">
                <a:solidFill>
                  <a:srgbClr val="7ED957"/>
                </a:solidFill>
                <a:latin typeface="Roboto Mono"/>
                <a:ea typeface="Roboto Mono"/>
                <a:cs typeface="Roboto Mono"/>
                <a:sym typeface="Roboto Mono"/>
              </a:rPr>
              <a:t>Cloud Run/GCloud</a:t>
            </a:r>
          </a:p>
        </p:txBody>
      </p:sp>
      <p:sp>
        <p:nvSpPr>
          <p:cNvPr name="Freeform 23" id="23"/>
          <p:cNvSpPr/>
          <p:nvPr/>
        </p:nvSpPr>
        <p:spPr>
          <a:xfrm flipH="false" flipV="false" rot="0">
            <a:off x="11806145" y="8152202"/>
            <a:ext cx="1835076" cy="1835076"/>
          </a:xfrm>
          <a:custGeom>
            <a:avLst/>
            <a:gdLst/>
            <a:ahLst/>
            <a:cxnLst/>
            <a:rect r="r" b="b" t="t" l="l"/>
            <a:pathLst>
              <a:path h="1835076" w="1835076">
                <a:moveTo>
                  <a:pt x="0" y="0"/>
                </a:moveTo>
                <a:lnTo>
                  <a:pt x="1835076" y="0"/>
                </a:lnTo>
                <a:lnTo>
                  <a:pt x="1835076" y="1835075"/>
                </a:lnTo>
                <a:lnTo>
                  <a:pt x="0" y="1835075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4" id="24"/>
          <p:cNvSpPr txBox="true"/>
          <p:nvPr/>
        </p:nvSpPr>
        <p:spPr>
          <a:xfrm rot="0">
            <a:off x="11272523" y="7753596"/>
            <a:ext cx="2798340" cy="2452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47"/>
              </a:lnSpc>
              <a:spcBef>
                <a:spcPct val="0"/>
              </a:spcBef>
            </a:pPr>
            <a:r>
              <a:rPr lang="en-US" sz="1462" spc="8">
                <a:solidFill>
                  <a:srgbClr val="7ED957"/>
                </a:solidFill>
                <a:latin typeface="Roboto Mono"/>
                <a:ea typeface="Roboto Mono"/>
                <a:cs typeface="Roboto Mono"/>
                <a:sym typeface="Roboto Mono"/>
              </a:rPr>
              <a:t>Git/gitflow</a:t>
            </a:r>
          </a:p>
        </p:txBody>
      </p:sp>
      <p:sp>
        <p:nvSpPr>
          <p:cNvPr name="Freeform 25" id="25"/>
          <p:cNvSpPr/>
          <p:nvPr/>
        </p:nvSpPr>
        <p:spPr>
          <a:xfrm flipH="false" flipV="false" rot="0">
            <a:off x="14061260" y="0"/>
            <a:ext cx="4226740" cy="1056685"/>
          </a:xfrm>
          <a:custGeom>
            <a:avLst/>
            <a:gdLst/>
            <a:ahLst/>
            <a:cxnLst/>
            <a:rect r="r" b="b" t="t" l="l"/>
            <a:pathLst>
              <a:path h="1056685" w="4226740">
                <a:moveTo>
                  <a:pt x="0" y="0"/>
                </a:moveTo>
                <a:lnTo>
                  <a:pt x="4226740" y="0"/>
                </a:lnTo>
                <a:lnTo>
                  <a:pt x="4226740" y="1056685"/>
                </a:lnTo>
                <a:lnTo>
                  <a:pt x="0" y="105668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123" t="-429" r="-1123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94945" y="9167365"/>
            <a:ext cx="9653403" cy="11196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9162"/>
              </a:lnSpc>
              <a:spcBef>
                <a:spcPct val="0"/>
              </a:spcBef>
            </a:pPr>
            <a:r>
              <a:rPr lang="en-US" b="true" sz="6544" spc="798">
                <a:solidFill>
                  <a:srgbClr val="7ED957"/>
                </a:solidFill>
                <a:latin typeface="Barlow Bold"/>
                <a:ea typeface="Barlow Bold"/>
                <a:cs typeface="Barlow Bold"/>
                <a:sym typeface="Barlow Bold"/>
              </a:rPr>
              <a:t>MODELO DE DATOS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61675" y="8510838"/>
            <a:ext cx="4332914" cy="5416143"/>
          </a:xfrm>
          <a:custGeom>
            <a:avLst/>
            <a:gdLst/>
            <a:ahLst/>
            <a:cxnLst/>
            <a:rect r="r" b="b" t="t" l="l"/>
            <a:pathLst>
              <a:path h="5416143" w="4332914">
                <a:moveTo>
                  <a:pt x="0" y="0"/>
                </a:moveTo>
                <a:lnTo>
                  <a:pt x="4332914" y="0"/>
                </a:lnTo>
                <a:lnTo>
                  <a:pt x="4332914" y="5416143"/>
                </a:lnTo>
                <a:lnTo>
                  <a:pt x="0" y="541614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5128571" y="1567013"/>
            <a:ext cx="8410194" cy="8084299"/>
          </a:xfrm>
          <a:custGeom>
            <a:avLst/>
            <a:gdLst/>
            <a:ahLst/>
            <a:cxnLst/>
            <a:rect r="r" b="b" t="t" l="l"/>
            <a:pathLst>
              <a:path h="8084299" w="8410194">
                <a:moveTo>
                  <a:pt x="0" y="0"/>
                </a:moveTo>
                <a:lnTo>
                  <a:pt x="8410193" y="0"/>
                </a:lnTo>
                <a:lnTo>
                  <a:pt x="8410193" y="8084299"/>
                </a:lnTo>
                <a:lnTo>
                  <a:pt x="0" y="808429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6427304" y="250242"/>
            <a:ext cx="5812726" cy="11196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9162"/>
              </a:lnSpc>
              <a:spcBef>
                <a:spcPct val="0"/>
              </a:spcBef>
            </a:pPr>
            <a:r>
              <a:rPr lang="en-US" b="true" sz="6544" spc="798">
                <a:solidFill>
                  <a:srgbClr val="7ED957"/>
                </a:solidFill>
                <a:latin typeface="Barlow Bold"/>
                <a:ea typeface="Barlow Bold"/>
                <a:cs typeface="Barlow Bold"/>
                <a:sym typeface="Barlow Bold"/>
              </a:rPr>
              <a:t>EVIDENCIAS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4061260" y="0"/>
            <a:ext cx="4226740" cy="1056685"/>
          </a:xfrm>
          <a:custGeom>
            <a:avLst/>
            <a:gdLst/>
            <a:ahLst/>
            <a:cxnLst/>
            <a:rect r="r" b="b" t="t" l="l"/>
            <a:pathLst>
              <a:path h="1056685" w="4226740">
                <a:moveTo>
                  <a:pt x="0" y="0"/>
                </a:moveTo>
                <a:lnTo>
                  <a:pt x="4226740" y="0"/>
                </a:lnTo>
                <a:lnTo>
                  <a:pt x="4226740" y="1056685"/>
                </a:lnTo>
                <a:lnTo>
                  <a:pt x="0" y="105668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61675" y="8510838"/>
            <a:ext cx="4332914" cy="5416143"/>
          </a:xfrm>
          <a:custGeom>
            <a:avLst/>
            <a:gdLst/>
            <a:ahLst/>
            <a:cxnLst/>
            <a:rect r="r" b="b" t="t" l="l"/>
            <a:pathLst>
              <a:path h="5416143" w="4332914">
                <a:moveTo>
                  <a:pt x="0" y="0"/>
                </a:moveTo>
                <a:lnTo>
                  <a:pt x="4332914" y="0"/>
                </a:lnTo>
                <a:lnTo>
                  <a:pt x="4332914" y="5416143"/>
                </a:lnTo>
                <a:lnTo>
                  <a:pt x="0" y="541614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3697330" y="1369877"/>
            <a:ext cx="11272675" cy="8102235"/>
          </a:xfrm>
          <a:custGeom>
            <a:avLst/>
            <a:gdLst/>
            <a:ahLst/>
            <a:cxnLst/>
            <a:rect r="r" b="b" t="t" l="l"/>
            <a:pathLst>
              <a:path h="8102235" w="11272675">
                <a:moveTo>
                  <a:pt x="0" y="0"/>
                </a:moveTo>
                <a:lnTo>
                  <a:pt x="11272675" y="0"/>
                </a:lnTo>
                <a:lnTo>
                  <a:pt x="11272675" y="8102236"/>
                </a:lnTo>
                <a:lnTo>
                  <a:pt x="0" y="810223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6427304" y="250242"/>
            <a:ext cx="5812726" cy="11196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9162"/>
              </a:lnSpc>
              <a:spcBef>
                <a:spcPct val="0"/>
              </a:spcBef>
            </a:pPr>
            <a:r>
              <a:rPr lang="en-US" b="true" sz="6544" spc="798">
                <a:solidFill>
                  <a:srgbClr val="7ED957"/>
                </a:solidFill>
                <a:latin typeface="Barlow Bold"/>
                <a:ea typeface="Barlow Bold"/>
                <a:cs typeface="Barlow Bold"/>
                <a:sym typeface="Barlow Bold"/>
              </a:rPr>
              <a:t>EVIDENCIAS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4061260" y="0"/>
            <a:ext cx="4226740" cy="1056685"/>
          </a:xfrm>
          <a:custGeom>
            <a:avLst/>
            <a:gdLst/>
            <a:ahLst/>
            <a:cxnLst/>
            <a:rect r="r" b="b" t="t" l="l"/>
            <a:pathLst>
              <a:path h="1056685" w="4226740">
                <a:moveTo>
                  <a:pt x="0" y="0"/>
                </a:moveTo>
                <a:lnTo>
                  <a:pt x="4226740" y="0"/>
                </a:lnTo>
                <a:lnTo>
                  <a:pt x="4226740" y="1056685"/>
                </a:lnTo>
                <a:lnTo>
                  <a:pt x="0" y="105668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61675" y="8510838"/>
            <a:ext cx="4332914" cy="5416143"/>
          </a:xfrm>
          <a:custGeom>
            <a:avLst/>
            <a:gdLst/>
            <a:ahLst/>
            <a:cxnLst/>
            <a:rect r="r" b="b" t="t" l="l"/>
            <a:pathLst>
              <a:path h="5416143" w="4332914">
                <a:moveTo>
                  <a:pt x="0" y="0"/>
                </a:moveTo>
                <a:lnTo>
                  <a:pt x="4332914" y="0"/>
                </a:lnTo>
                <a:lnTo>
                  <a:pt x="4332914" y="5416143"/>
                </a:lnTo>
                <a:lnTo>
                  <a:pt x="0" y="541614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992123" y="1728479"/>
            <a:ext cx="14303754" cy="6830042"/>
          </a:xfrm>
          <a:custGeom>
            <a:avLst/>
            <a:gdLst/>
            <a:ahLst/>
            <a:cxnLst/>
            <a:rect r="r" b="b" t="t" l="l"/>
            <a:pathLst>
              <a:path h="6830042" w="14303754">
                <a:moveTo>
                  <a:pt x="0" y="0"/>
                </a:moveTo>
                <a:lnTo>
                  <a:pt x="14303754" y="0"/>
                </a:lnTo>
                <a:lnTo>
                  <a:pt x="14303754" y="6830042"/>
                </a:lnTo>
                <a:lnTo>
                  <a:pt x="0" y="683004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6427304" y="250242"/>
            <a:ext cx="5812726" cy="11196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9162"/>
              </a:lnSpc>
              <a:spcBef>
                <a:spcPct val="0"/>
              </a:spcBef>
            </a:pPr>
            <a:r>
              <a:rPr lang="en-US" b="true" sz="6544" spc="798">
                <a:solidFill>
                  <a:srgbClr val="41CA6A"/>
                </a:solidFill>
                <a:latin typeface="Barlow Bold"/>
                <a:ea typeface="Barlow Bold"/>
                <a:cs typeface="Barlow Bold"/>
                <a:sym typeface="Barlow Bold"/>
              </a:rPr>
              <a:t>EVIDENCIAS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4061260" y="0"/>
            <a:ext cx="4226740" cy="1056685"/>
          </a:xfrm>
          <a:custGeom>
            <a:avLst/>
            <a:gdLst/>
            <a:ahLst/>
            <a:cxnLst/>
            <a:rect r="r" b="b" t="t" l="l"/>
            <a:pathLst>
              <a:path h="1056685" w="4226740">
                <a:moveTo>
                  <a:pt x="0" y="0"/>
                </a:moveTo>
                <a:lnTo>
                  <a:pt x="4226740" y="0"/>
                </a:lnTo>
                <a:lnTo>
                  <a:pt x="4226740" y="1056685"/>
                </a:lnTo>
                <a:lnTo>
                  <a:pt x="0" y="105668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false" rot="0">
            <a:off x="0" y="6514741"/>
            <a:ext cx="5658388" cy="3772259"/>
          </a:xfrm>
          <a:custGeom>
            <a:avLst/>
            <a:gdLst/>
            <a:ahLst/>
            <a:cxnLst/>
            <a:rect r="r" b="b" t="t" l="l"/>
            <a:pathLst>
              <a:path h="3772259" w="5658388">
                <a:moveTo>
                  <a:pt x="5658388" y="0"/>
                </a:moveTo>
                <a:lnTo>
                  <a:pt x="0" y="0"/>
                </a:lnTo>
                <a:lnTo>
                  <a:pt x="0" y="3772259"/>
                </a:lnTo>
                <a:lnTo>
                  <a:pt x="5658388" y="3772259"/>
                </a:lnTo>
                <a:lnTo>
                  <a:pt x="5658388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grpSp>
        <p:nvGrpSpPr>
          <p:cNvPr name="Group 3" id="3"/>
          <p:cNvGrpSpPr/>
          <p:nvPr/>
        </p:nvGrpSpPr>
        <p:grpSpPr>
          <a:xfrm rot="0">
            <a:off x="14724942" y="9258300"/>
            <a:ext cx="2534358" cy="347744"/>
            <a:chOff x="0" y="0"/>
            <a:chExt cx="1448868" cy="198802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448868" cy="198802"/>
            </a:xfrm>
            <a:custGeom>
              <a:avLst/>
              <a:gdLst/>
              <a:ahLst/>
              <a:cxnLst/>
              <a:rect r="r" b="b" t="t" l="l"/>
              <a:pathLst>
                <a:path h="198802" w="1448868">
                  <a:moveTo>
                    <a:pt x="0" y="0"/>
                  </a:moveTo>
                  <a:lnTo>
                    <a:pt x="1448868" y="0"/>
                  </a:lnTo>
                  <a:lnTo>
                    <a:pt x="1448868" y="198802"/>
                  </a:lnTo>
                  <a:lnTo>
                    <a:pt x="0" y="198802"/>
                  </a:lnTo>
                  <a:close/>
                </a:path>
              </a:pathLst>
            </a:custGeom>
            <a:solidFill>
              <a:srgbClr val="7ED95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1448868" cy="236902"/>
            </a:xfrm>
            <a:prstGeom prst="rect">
              <a:avLst/>
            </a:prstGeom>
          </p:spPr>
          <p:txBody>
            <a:bodyPr anchor="ctr" rtlCol="false" tIns="31845" lIns="31845" bIns="31845" rIns="31845"/>
            <a:lstStyle/>
            <a:p>
              <a:pPr algn="ctr">
                <a:lnSpc>
                  <a:spcPts val="1228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282850" y="1574389"/>
            <a:ext cx="15315478" cy="15858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2965"/>
              </a:lnSpc>
              <a:spcBef>
                <a:spcPct val="0"/>
              </a:spcBef>
            </a:pPr>
            <a:r>
              <a:rPr lang="en-US" b="true" sz="9260" spc="1129">
                <a:solidFill>
                  <a:srgbClr val="7ED957"/>
                </a:solidFill>
                <a:latin typeface="Barlow Bold"/>
                <a:ea typeface="Barlow Bold"/>
                <a:cs typeface="Barlow Bold"/>
                <a:sym typeface="Barlow Bold"/>
              </a:rPr>
              <a:t>PORTAFOLIO DE TÍTULO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2762157" y="4194435"/>
            <a:ext cx="14356864" cy="54116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308"/>
              </a:lnSpc>
            </a:pPr>
            <a:r>
              <a:rPr lang="en-US" sz="3099" spc="238">
                <a:solidFill>
                  <a:srgbClr val="7ED957"/>
                </a:solidFill>
                <a:latin typeface="Roboto Mono"/>
                <a:ea typeface="Roboto Mono"/>
                <a:cs typeface="Roboto Mono"/>
                <a:sym typeface="Roboto Mono"/>
              </a:rPr>
              <a:t>I</a:t>
            </a:r>
            <a:r>
              <a:rPr lang="en-US" sz="3099" spc="238">
                <a:solidFill>
                  <a:srgbClr val="7ED957"/>
                </a:solidFill>
                <a:latin typeface="Roboto Mono"/>
                <a:ea typeface="Roboto Mono"/>
                <a:cs typeface="Roboto Mono"/>
                <a:sym typeface="Roboto Mono"/>
              </a:rPr>
              <a:t>ngeniería Informática</a:t>
            </a:r>
          </a:p>
          <a:p>
            <a:pPr algn="ctr">
              <a:lnSpc>
                <a:spcPts val="4308"/>
              </a:lnSpc>
              <a:spcBef>
                <a:spcPct val="0"/>
              </a:spcBef>
            </a:pPr>
            <a:r>
              <a:rPr lang="en-US" sz="3099" spc="238">
                <a:solidFill>
                  <a:srgbClr val="7ED957"/>
                </a:solidFill>
                <a:latin typeface="Roboto Mono"/>
                <a:ea typeface="Roboto Mono"/>
                <a:cs typeface="Roboto Mono"/>
                <a:sym typeface="Roboto Mono"/>
              </a:rPr>
              <a:t>Escuela d</a:t>
            </a:r>
            <a:r>
              <a:rPr lang="en-US" sz="3099" spc="238">
                <a:solidFill>
                  <a:srgbClr val="7ED957"/>
                </a:solidFill>
                <a:latin typeface="Roboto Mono"/>
                <a:ea typeface="Roboto Mono"/>
                <a:cs typeface="Roboto Mono"/>
                <a:sym typeface="Roboto Mono"/>
              </a:rPr>
              <a:t>e Informática y Telecomunicaciones</a:t>
            </a:r>
          </a:p>
          <a:p>
            <a:pPr algn="ctr">
              <a:lnSpc>
                <a:spcPts val="4308"/>
              </a:lnSpc>
              <a:spcBef>
                <a:spcPct val="0"/>
              </a:spcBef>
            </a:pPr>
            <a:r>
              <a:rPr lang="en-US" sz="3099" spc="238">
                <a:solidFill>
                  <a:srgbClr val="7ED957"/>
                </a:solidFill>
                <a:latin typeface="Roboto Mono"/>
                <a:ea typeface="Roboto Mono"/>
                <a:cs typeface="Roboto Mono"/>
                <a:sym typeface="Roboto Mono"/>
              </a:rPr>
              <a:t>Sede Maipú</a:t>
            </a:r>
          </a:p>
          <a:p>
            <a:pPr algn="ctr">
              <a:lnSpc>
                <a:spcPts val="4308"/>
              </a:lnSpc>
              <a:spcBef>
                <a:spcPct val="0"/>
              </a:spcBef>
            </a:pPr>
            <a:r>
              <a:rPr lang="en-US" sz="3099" spc="238">
                <a:solidFill>
                  <a:srgbClr val="7ED957"/>
                </a:solidFill>
                <a:latin typeface="Roboto Mono"/>
                <a:ea typeface="Roboto Mono"/>
                <a:cs typeface="Roboto Mono"/>
                <a:sym typeface="Roboto Mono"/>
              </a:rPr>
              <a:t>2025</a:t>
            </a:r>
          </a:p>
          <a:p>
            <a:pPr algn="ctr">
              <a:lnSpc>
                <a:spcPts val="4308"/>
              </a:lnSpc>
              <a:spcBef>
                <a:spcPct val="0"/>
              </a:spcBef>
            </a:pPr>
            <a:r>
              <a:rPr lang="en-US" sz="3099" spc="238">
                <a:solidFill>
                  <a:srgbClr val="7ED957"/>
                </a:solidFill>
                <a:latin typeface="Roboto Mono"/>
                <a:ea typeface="Roboto Mono"/>
                <a:cs typeface="Roboto Mono"/>
                <a:sym typeface="Roboto Mono"/>
              </a:rPr>
              <a:t>Docente Instructor de la Asignatura:</a:t>
            </a:r>
          </a:p>
          <a:p>
            <a:pPr algn="ctr">
              <a:lnSpc>
                <a:spcPts val="4308"/>
              </a:lnSpc>
              <a:spcBef>
                <a:spcPct val="0"/>
              </a:spcBef>
            </a:pPr>
            <a:r>
              <a:rPr lang="en-US" sz="3099" spc="238">
                <a:solidFill>
                  <a:srgbClr val="7ED957"/>
                </a:solidFill>
                <a:latin typeface="Roboto Mono"/>
                <a:ea typeface="Roboto Mono"/>
                <a:cs typeface="Roboto Mono"/>
                <a:sym typeface="Roboto Mono"/>
              </a:rPr>
              <a:t>Jorge Guzmán Bozo</a:t>
            </a:r>
          </a:p>
          <a:p>
            <a:pPr algn="ctr">
              <a:lnSpc>
                <a:spcPts val="4308"/>
              </a:lnSpc>
              <a:spcBef>
                <a:spcPct val="0"/>
              </a:spcBef>
            </a:pPr>
            <a:r>
              <a:rPr lang="en-US" sz="3099" spc="238">
                <a:solidFill>
                  <a:srgbClr val="7ED957"/>
                </a:solidFill>
                <a:latin typeface="Roboto Mono"/>
                <a:ea typeface="Roboto Mono"/>
                <a:cs typeface="Roboto Mono"/>
                <a:sym typeface="Roboto Mono"/>
              </a:rPr>
              <a:t>Integrantes del Equipo:</a:t>
            </a:r>
          </a:p>
          <a:p>
            <a:pPr algn="ctr">
              <a:lnSpc>
                <a:spcPts val="4308"/>
              </a:lnSpc>
              <a:spcBef>
                <a:spcPct val="0"/>
              </a:spcBef>
            </a:pPr>
            <a:r>
              <a:rPr lang="en-US" sz="3099" spc="238">
                <a:solidFill>
                  <a:srgbClr val="7ED957"/>
                </a:solidFill>
                <a:latin typeface="Roboto Mono"/>
                <a:ea typeface="Roboto Mono"/>
                <a:cs typeface="Roboto Mono"/>
                <a:sym typeface="Roboto Mono"/>
              </a:rPr>
              <a:t>Nicolas Lizama</a:t>
            </a:r>
          </a:p>
          <a:p>
            <a:pPr algn="ctr">
              <a:lnSpc>
                <a:spcPts val="4308"/>
              </a:lnSpc>
              <a:spcBef>
                <a:spcPct val="0"/>
              </a:spcBef>
            </a:pPr>
            <a:r>
              <a:rPr lang="en-US" sz="3099" spc="238">
                <a:solidFill>
                  <a:srgbClr val="7ED957"/>
                </a:solidFill>
                <a:latin typeface="Roboto Mono"/>
                <a:ea typeface="Roboto Mono"/>
                <a:cs typeface="Roboto Mono"/>
                <a:sym typeface="Roboto Mono"/>
              </a:rPr>
              <a:t>Vincenzo Orellana</a:t>
            </a:r>
          </a:p>
          <a:p>
            <a:pPr algn="ctr">
              <a:lnSpc>
                <a:spcPts val="4308"/>
              </a:lnSpc>
              <a:spcBef>
                <a:spcPct val="0"/>
              </a:spcBef>
            </a:pPr>
            <a:r>
              <a:rPr lang="en-US" sz="3099" spc="238">
                <a:solidFill>
                  <a:srgbClr val="7ED957"/>
                </a:solidFill>
                <a:latin typeface="Roboto Mono"/>
                <a:ea typeface="Roboto Mono"/>
                <a:cs typeface="Roboto Mono"/>
                <a:sym typeface="Roboto Mono"/>
              </a:rPr>
              <a:t>Daniel Reyes</a:t>
            </a:r>
          </a:p>
        </p:txBody>
      </p:sp>
      <p:sp>
        <p:nvSpPr>
          <p:cNvPr name="Freeform 8" id="8"/>
          <p:cNvSpPr/>
          <p:nvPr/>
        </p:nvSpPr>
        <p:spPr>
          <a:xfrm flipH="false" flipV="false" rot="0">
            <a:off x="14061260" y="0"/>
            <a:ext cx="4226740" cy="1056685"/>
          </a:xfrm>
          <a:custGeom>
            <a:avLst/>
            <a:gdLst/>
            <a:ahLst/>
            <a:cxnLst/>
            <a:rect r="r" b="b" t="t" l="l"/>
            <a:pathLst>
              <a:path h="1056685" w="4226740">
                <a:moveTo>
                  <a:pt x="0" y="0"/>
                </a:moveTo>
                <a:lnTo>
                  <a:pt x="4226740" y="0"/>
                </a:lnTo>
                <a:lnTo>
                  <a:pt x="4226740" y="1056685"/>
                </a:lnTo>
                <a:lnTo>
                  <a:pt x="0" y="105668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4150654" y="3074537"/>
            <a:ext cx="11579870" cy="1393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99"/>
              </a:lnSpc>
            </a:pPr>
            <a:r>
              <a:rPr lang="en-US" b="true" sz="3999" spc="487">
                <a:solidFill>
                  <a:srgbClr val="FFFFFF"/>
                </a:solidFill>
                <a:latin typeface="Barlow Bold"/>
                <a:ea typeface="Barlow Bold"/>
                <a:cs typeface="Barlow Bold"/>
                <a:sym typeface="Barlow Bold"/>
              </a:rPr>
              <a:t>UNIDAD TERRITORIAL JUNTA DE VECINOS</a:t>
            </a:r>
          </a:p>
          <a:p>
            <a:pPr algn="l" marL="0" indent="0" lvl="0">
              <a:lnSpc>
                <a:spcPts val="5599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DAGxZG2knFY</dc:identifier>
  <dcterms:modified xsi:type="dcterms:W3CDTF">2011-08-01T06:04:30Z</dcterms:modified>
  <cp:revision>1</cp:revision>
  <dc:title>Presentación proyecto de arquitectura minimalista estructurado blanco y negro</dc:title>
</cp:coreProperties>
</file>