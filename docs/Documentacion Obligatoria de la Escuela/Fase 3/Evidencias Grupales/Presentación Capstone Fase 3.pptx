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otham" charset="1" panose="00000000000000000000"/>
      <p:regular r:id="rId22"/>
    </p:embeddedFont>
    <p:embeddedFont>
      <p:font typeface="Gotham Bold" charset="1" panose="00000000000000000000"/>
      <p:regular r:id="rId23"/>
    </p:embeddedFont>
    <p:embeddedFont>
      <p:font typeface="Gotham Bold Italics" charset="1" panose="02000000000000000000"/>
      <p:regular r:id="rId24"/>
    </p:embeddedFont>
    <p:embeddedFont>
      <p:font typeface="Open Sans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media/image2.png" Type="http://schemas.openxmlformats.org/officeDocument/2006/relationships/image"/><Relationship Id="rId18" Target="../media/image3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4.jpeg" Type="http://schemas.openxmlformats.org/officeDocument/2006/relationships/image"/><Relationship Id="rId4" Target="../media/image22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4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40.png" Type="http://schemas.openxmlformats.org/officeDocument/2006/relationships/image"/><Relationship Id="rId14" Target="../media/image3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2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.jpeg" Type="http://schemas.openxmlformats.org/officeDocument/2006/relationships/image"/><Relationship Id="rId5" Target="../media/image44.jpeg" Type="http://schemas.openxmlformats.org/officeDocument/2006/relationships/image"/><Relationship Id="rId6" Target="../media/image3.png" Type="http://schemas.openxmlformats.org/officeDocument/2006/relationships/image"/><Relationship Id="rId7" Target="../media/image2.pn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50052" y="8906949"/>
            <a:ext cx="3880874" cy="473051"/>
            <a:chOff x="0" y="0"/>
            <a:chExt cx="1022123" cy="1245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2123" cy="124590"/>
            </a:xfrm>
            <a:custGeom>
              <a:avLst/>
              <a:gdLst/>
              <a:ahLst/>
              <a:cxnLst/>
              <a:rect r="r" b="b" t="t" l="l"/>
              <a:pathLst>
                <a:path h="124590" w="1022123">
                  <a:moveTo>
                    <a:pt x="62295" y="0"/>
                  </a:moveTo>
                  <a:lnTo>
                    <a:pt x="959828" y="0"/>
                  </a:lnTo>
                  <a:cubicBezTo>
                    <a:pt x="994233" y="0"/>
                    <a:pt x="1022123" y="27890"/>
                    <a:pt x="1022123" y="62295"/>
                  </a:cubicBezTo>
                  <a:lnTo>
                    <a:pt x="1022123" y="62295"/>
                  </a:lnTo>
                  <a:cubicBezTo>
                    <a:pt x="1022123" y="96699"/>
                    <a:pt x="994233" y="124590"/>
                    <a:pt x="959828" y="124590"/>
                  </a:cubicBezTo>
                  <a:lnTo>
                    <a:pt x="62295" y="124590"/>
                  </a:lnTo>
                  <a:cubicBezTo>
                    <a:pt x="27890" y="124590"/>
                    <a:pt x="0" y="96699"/>
                    <a:pt x="0" y="62295"/>
                  </a:cubicBezTo>
                  <a:lnTo>
                    <a:pt x="0" y="62295"/>
                  </a:lnTo>
                  <a:cubicBezTo>
                    <a:pt x="0" y="27890"/>
                    <a:pt x="27890" y="0"/>
                    <a:pt x="62295" y="0"/>
                  </a:cubicBezTo>
                  <a:close/>
                </a:path>
              </a:pathLst>
            </a:custGeom>
            <a:solidFill>
              <a:srgbClr val="45B9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022123" cy="153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sz="202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www.unididadterritorial.cl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97059" y="1255021"/>
            <a:ext cx="7246941" cy="1174417"/>
          </a:xfrm>
          <a:custGeom>
            <a:avLst/>
            <a:gdLst/>
            <a:ahLst/>
            <a:cxnLst/>
            <a:rect r="r" b="b" t="t" l="l"/>
            <a:pathLst>
              <a:path h="1174417" w="7246941">
                <a:moveTo>
                  <a:pt x="0" y="0"/>
                </a:moveTo>
                <a:lnTo>
                  <a:pt x="7246941" y="0"/>
                </a:lnTo>
                <a:lnTo>
                  <a:pt x="7246941" y="1174417"/>
                </a:lnTo>
                <a:lnTo>
                  <a:pt x="0" y="1174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918" r="0" b="-3734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13692" y="6388287"/>
            <a:ext cx="4422550" cy="1762063"/>
            <a:chOff x="0" y="0"/>
            <a:chExt cx="1276946" cy="508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6946" cy="508770"/>
            </a:xfrm>
            <a:custGeom>
              <a:avLst/>
              <a:gdLst/>
              <a:ahLst/>
              <a:cxnLst/>
              <a:rect r="r" b="b" t="t" l="l"/>
              <a:pathLst>
                <a:path h="508770" w="1276946">
                  <a:moveTo>
                    <a:pt x="1073746" y="0"/>
                  </a:moveTo>
                  <a:cubicBezTo>
                    <a:pt x="1185971" y="0"/>
                    <a:pt x="1276946" y="113892"/>
                    <a:pt x="1276946" y="254385"/>
                  </a:cubicBezTo>
                  <a:cubicBezTo>
                    <a:pt x="1276946" y="394878"/>
                    <a:pt x="1185971" y="508770"/>
                    <a:pt x="1073746" y="508770"/>
                  </a:cubicBezTo>
                  <a:lnTo>
                    <a:pt x="203200" y="508770"/>
                  </a:lnTo>
                  <a:cubicBezTo>
                    <a:pt x="90976" y="508770"/>
                    <a:pt x="0" y="394878"/>
                    <a:pt x="0" y="254385"/>
                  </a:cubicBezTo>
                  <a:cubicBezTo>
                    <a:pt x="0" y="1138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76946" cy="53734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762319" y="2158165"/>
            <a:ext cx="5085021" cy="5970671"/>
          </a:xfrm>
          <a:custGeom>
            <a:avLst/>
            <a:gdLst/>
            <a:ahLst/>
            <a:cxnLst/>
            <a:rect r="r" b="b" t="t" l="l"/>
            <a:pathLst>
              <a:path h="5970671" w="5085021">
                <a:moveTo>
                  <a:pt x="0" y="0"/>
                </a:moveTo>
                <a:lnTo>
                  <a:pt x="5085022" y="0"/>
                </a:lnTo>
                <a:lnTo>
                  <a:pt x="5085022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35137" y="4286468"/>
            <a:ext cx="10600347" cy="178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18"/>
              </a:lnSpc>
              <a:spcBef>
                <a:spcPct val="0"/>
              </a:spcBef>
            </a:pPr>
            <a:r>
              <a:rPr lang="en-US" b="true" sz="8899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Unidad Territorial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010467"/>
            <a:ext cx="8401590" cy="14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41"/>
              </a:lnSpc>
              <a:spcBef>
                <a:spcPct val="0"/>
              </a:spcBef>
            </a:pPr>
            <a:r>
              <a:rPr lang="en-US" b="true" sz="7392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Proyecto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57464" y="6583353"/>
            <a:ext cx="3355692" cy="134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779" b="tru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Nicolas Lizama</a:t>
            </a:r>
          </a:p>
          <a:p>
            <a:pPr algn="l">
              <a:lnSpc>
                <a:spcPts val="3558"/>
              </a:lnSpc>
            </a:pPr>
            <a:r>
              <a:rPr lang="en-US" sz="2779" b="tru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Vincenzo Orellana</a:t>
            </a:r>
          </a:p>
          <a:p>
            <a:pPr algn="l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79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Daniel Reyes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63681" y="0"/>
            <a:ext cx="8924319" cy="10287000"/>
            <a:chOff x="0" y="0"/>
            <a:chExt cx="23504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04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50438">
                  <a:moveTo>
                    <a:pt x="0" y="0"/>
                  </a:moveTo>
                  <a:lnTo>
                    <a:pt x="2350438" y="0"/>
                  </a:lnTo>
                  <a:lnTo>
                    <a:pt x="23504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50438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1">
                <a:lnSpc>
                  <a:spcPts val="3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63681" y="0"/>
            <a:ext cx="8924319" cy="5912621"/>
            <a:chOff x="0" y="0"/>
            <a:chExt cx="883505" cy="5853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3505" cy="585348"/>
            </a:xfrm>
            <a:custGeom>
              <a:avLst/>
              <a:gdLst/>
              <a:ahLst/>
              <a:cxnLst/>
              <a:rect r="r" b="b" t="t" l="l"/>
              <a:pathLst>
                <a:path h="585348" w="883505">
                  <a:moveTo>
                    <a:pt x="0" y="0"/>
                  </a:moveTo>
                  <a:lnTo>
                    <a:pt x="883505" y="0"/>
                  </a:lnTo>
                  <a:lnTo>
                    <a:pt x="883505" y="585348"/>
                  </a:lnTo>
                  <a:lnTo>
                    <a:pt x="0" y="585348"/>
                  </a:lnTo>
                  <a:close/>
                </a:path>
              </a:pathLst>
            </a:custGeom>
            <a:blipFill>
              <a:blip r:embed="rId2">
                <a:alphaModFix amt="56000"/>
              </a:blip>
              <a:stretch>
                <a:fillRect l="0" t="-705" r="0" b="-70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0">
            <a:off x="16628216" y="405648"/>
            <a:ext cx="1262168" cy="1246104"/>
          </a:xfrm>
          <a:custGeom>
            <a:avLst/>
            <a:gdLst/>
            <a:ahLst/>
            <a:cxnLst/>
            <a:rect r="r" b="b" t="t" l="l"/>
            <a:pathLst>
              <a:path h="1246104" w="1262168">
                <a:moveTo>
                  <a:pt x="0" y="1246104"/>
                </a:moveTo>
                <a:lnTo>
                  <a:pt x="1262168" y="1246104"/>
                </a:lnTo>
                <a:lnTo>
                  <a:pt x="1262168" y="0"/>
                </a:lnTo>
                <a:lnTo>
                  <a:pt x="0" y="0"/>
                </a:lnTo>
                <a:lnTo>
                  <a:pt x="0" y="124610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3572137"/>
            <a:ext cx="7564416" cy="285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b="true" sz="2236" spc="67" strike="noStrike" u="none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La gestión actual de las juntas de vecinos es manual y desordenada. Esto causa retrasos, desorganización y una comunicación ineficiente con los residentes. Las juntas de vecinos, que son fundamentales para la comunidad, son las organizaciones más desatendidas en el uso de la tecnología.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93058" y="6877153"/>
            <a:ext cx="7564416" cy="27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59"/>
              </a:lnSpc>
              <a:spcBef>
                <a:spcPct val="0"/>
              </a:spcBef>
            </a:pPr>
            <a:r>
              <a:rPr lang="en-US" b="true" sz="2163" i="true" spc="64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m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d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ge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tión dig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ita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l qu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 c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ntra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l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zará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p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roceso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c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omo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l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cripción d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ve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ci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nos,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l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 em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isi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ón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de cer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fi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c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d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os de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r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dencia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y la ge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ón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d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proyec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os y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re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erv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as.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El sist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ma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rá u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pla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afor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m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 web ada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p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table, rob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us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y mo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vi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l, mejor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ndo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l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tr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sp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re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ncia y op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tim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iz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ndo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l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 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com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u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ic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ac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ón</a:t>
            </a:r>
            <a:r>
              <a:rPr lang="en-US" b="true" sz="2163" i="true" spc="64" strike="noStrike" u="none">
                <a:solidFill>
                  <a:srgbClr val="FBFCFC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448" y="2213011"/>
            <a:ext cx="5794919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Problemática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99801" y="5729674"/>
            <a:ext cx="3500572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Solución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8700" y="8192593"/>
            <a:ext cx="7246941" cy="1174417"/>
          </a:xfrm>
          <a:custGeom>
            <a:avLst/>
            <a:gdLst/>
            <a:ahLst/>
            <a:cxnLst/>
            <a:rect r="r" b="b" t="t" l="l"/>
            <a:pathLst>
              <a:path h="1174417" w="7246941">
                <a:moveTo>
                  <a:pt x="0" y="0"/>
                </a:moveTo>
                <a:lnTo>
                  <a:pt x="7246941" y="0"/>
                </a:lnTo>
                <a:lnTo>
                  <a:pt x="7246941" y="1174416"/>
                </a:lnTo>
                <a:lnTo>
                  <a:pt x="0" y="11744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918" r="0" b="-37348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130" y="0"/>
            <a:ext cx="6769179" cy="10287000"/>
            <a:chOff x="0" y="0"/>
            <a:chExt cx="178282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282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2829">
                  <a:moveTo>
                    <a:pt x="0" y="0"/>
                  </a:moveTo>
                  <a:lnTo>
                    <a:pt x="1782829" y="0"/>
                  </a:lnTo>
                  <a:lnTo>
                    <a:pt x="178282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782829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26758" y="1333411"/>
            <a:ext cx="2932542" cy="233980"/>
            <a:chOff x="0" y="0"/>
            <a:chExt cx="3910057" cy="31197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205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498205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308340" cy="311974"/>
              <a:chOff x="0" y="0"/>
              <a:chExt cx="60907" cy="6162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0" y="0"/>
            <a:ext cx="6792308" cy="10287000"/>
            <a:chOff x="0" y="0"/>
            <a:chExt cx="1052306" cy="15937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2306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52306">
                  <a:moveTo>
                    <a:pt x="0" y="0"/>
                  </a:moveTo>
                  <a:lnTo>
                    <a:pt x="1052306" y="0"/>
                  </a:lnTo>
                  <a:lnTo>
                    <a:pt x="105230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62707" t="0" r="-62707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961443" y="1835472"/>
            <a:ext cx="8134254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Objetivo General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16356" y="3472916"/>
            <a:ext cx="9992375" cy="304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b="true" sz="236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Mejorar la gestión administrativa, comunicacional y organizativa de una junta de vecinos mediante el desarrollo de un sistema web responsivo y/o aplicación móvil, que centralice procesos clave como inscripción de vecinos, emisión de certificados de residencia, gestión de proyectos vecinales, reservas de espacios y comunicación con la comunidad.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4000" y="7772712"/>
            <a:ext cx="7246941" cy="1174417"/>
          </a:xfrm>
          <a:custGeom>
            <a:avLst/>
            <a:gdLst/>
            <a:ahLst/>
            <a:cxnLst/>
            <a:rect r="r" b="b" t="t" l="l"/>
            <a:pathLst>
              <a:path h="1174417" w="7246941">
                <a:moveTo>
                  <a:pt x="0" y="0"/>
                </a:moveTo>
                <a:lnTo>
                  <a:pt x="7246941" y="0"/>
                </a:lnTo>
                <a:lnTo>
                  <a:pt x="7246941" y="1174417"/>
                </a:lnTo>
                <a:lnTo>
                  <a:pt x="0" y="1174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918" r="0" b="-37348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31425" y="3020839"/>
            <a:ext cx="5394148" cy="5394148"/>
          </a:xfrm>
          <a:custGeom>
            <a:avLst/>
            <a:gdLst/>
            <a:ahLst/>
            <a:cxnLst/>
            <a:rect r="r" b="b" t="t" l="l"/>
            <a:pathLst>
              <a:path h="5394148" w="5394148">
                <a:moveTo>
                  <a:pt x="0" y="0"/>
                </a:moveTo>
                <a:lnTo>
                  <a:pt x="5394149" y="0"/>
                </a:lnTo>
                <a:lnTo>
                  <a:pt x="5394149" y="5394148"/>
                </a:lnTo>
                <a:lnTo>
                  <a:pt x="0" y="53941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6833735" y="3429896"/>
            <a:ext cx="4582781" cy="458278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>
                <a:lnSpc>
                  <a:spcPts val="161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63149" y="4625858"/>
            <a:ext cx="447669" cy="4476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13003" y="3138481"/>
            <a:ext cx="447669" cy="4476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08838" y="7853458"/>
            <a:ext cx="447669" cy="4476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46946" y="4643852"/>
            <a:ext cx="447669" cy="44766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46946" y="6439069"/>
            <a:ext cx="447669" cy="44766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76942" y="2304111"/>
            <a:ext cx="5082362" cy="1567119"/>
            <a:chOff x="0" y="0"/>
            <a:chExt cx="1467458" cy="4524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85523" y="3154759"/>
            <a:ext cx="447669" cy="44766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585523" y="7827075"/>
            <a:ext cx="447669" cy="44766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463149" y="6439069"/>
            <a:ext cx="447669" cy="44766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6378264" y="2745445"/>
            <a:ext cx="455471" cy="684451"/>
          </a:xfrm>
          <a:custGeom>
            <a:avLst/>
            <a:gdLst/>
            <a:ahLst/>
            <a:cxnLst/>
            <a:rect r="r" b="b" t="t" l="l"/>
            <a:pathLst>
              <a:path h="684451" w="455471">
                <a:moveTo>
                  <a:pt x="0" y="0"/>
                </a:moveTo>
                <a:lnTo>
                  <a:pt x="455471" y="0"/>
                </a:lnTo>
                <a:lnTo>
                  <a:pt x="455471" y="684451"/>
                </a:lnTo>
                <a:lnTo>
                  <a:pt x="0" y="6844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5" id="35"/>
          <p:cNvGrpSpPr/>
          <p:nvPr/>
        </p:nvGrpSpPr>
        <p:grpSpPr>
          <a:xfrm rot="0">
            <a:off x="847905" y="4822632"/>
            <a:ext cx="5082362" cy="1567119"/>
            <a:chOff x="0" y="0"/>
            <a:chExt cx="1467458" cy="4524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467458" cy="46200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l" marL="0" indent="0" lvl="0">
                <a:lnSpc>
                  <a:spcPts val="22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98336" y="7691181"/>
            <a:ext cx="5082362" cy="1567119"/>
            <a:chOff x="0" y="0"/>
            <a:chExt cx="1467458" cy="4524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413146" y="2354922"/>
            <a:ext cx="5082362" cy="1567119"/>
            <a:chOff x="0" y="0"/>
            <a:chExt cx="1467458" cy="4524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15643" y="4822632"/>
            <a:ext cx="5082362" cy="1567119"/>
            <a:chOff x="0" y="0"/>
            <a:chExt cx="1467458" cy="4524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160451" y="7691181"/>
            <a:ext cx="5082362" cy="1567119"/>
            <a:chOff x="0" y="0"/>
            <a:chExt cx="1467458" cy="4524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6242649" y="8160286"/>
            <a:ext cx="625150" cy="625150"/>
          </a:xfrm>
          <a:custGeom>
            <a:avLst/>
            <a:gdLst/>
            <a:ahLst/>
            <a:cxnLst/>
            <a:rect r="r" b="b" t="t" l="l"/>
            <a:pathLst>
              <a:path h="625150" w="625150">
                <a:moveTo>
                  <a:pt x="0" y="0"/>
                </a:moveTo>
                <a:lnTo>
                  <a:pt x="625150" y="0"/>
                </a:lnTo>
                <a:lnTo>
                  <a:pt x="625150" y="625150"/>
                </a:lnTo>
                <a:lnTo>
                  <a:pt x="0" y="625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1338847" y="8197443"/>
            <a:ext cx="629121" cy="629121"/>
          </a:xfrm>
          <a:custGeom>
            <a:avLst/>
            <a:gdLst/>
            <a:ahLst/>
            <a:cxnLst/>
            <a:rect r="r" b="b" t="t" l="l"/>
            <a:pathLst>
              <a:path h="629121" w="629121">
                <a:moveTo>
                  <a:pt x="0" y="0"/>
                </a:moveTo>
                <a:lnTo>
                  <a:pt x="629121" y="0"/>
                </a:lnTo>
                <a:lnTo>
                  <a:pt x="629121" y="629122"/>
                </a:lnTo>
                <a:lnTo>
                  <a:pt x="0" y="6291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12691722" y="5339412"/>
            <a:ext cx="717158" cy="477236"/>
          </a:xfrm>
          <a:custGeom>
            <a:avLst/>
            <a:gdLst/>
            <a:ahLst/>
            <a:cxnLst/>
            <a:rect r="r" b="b" t="t" l="l"/>
            <a:pathLst>
              <a:path h="477236" w="717158">
                <a:moveTo>
                  <a:pt x="0" y="0"/>
                </a:moveTo>
                <a:lnTo>
                  <a:pt x="717157" y="0"/>
                </a:lnTo>
                <a:lnTo>
                  <a:pt x="717157" y="477236"/>
                </a:lnTo>
                <a:lnTo>
                  <a:pt x="0" y="4772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5154090" y="5347302"/>
            <a:ext cx="563278" cy="556237"/>
          </a:xfrm>
          <a:custGeom>
            <a:avLst/>
            <a:gdLst/>
            <a:ahLst/>
            <a:cxnLst/>
            <a:rect r="r" b="b" t="t" l="l"/>
            <a:pathLst>
              <a:path h="556237" w="563278">
                <a:moveTo>
                  <a:pt x="0" y="0"/>
                </a:moveTo>
                <a:lnTo>
                  <a:pt x="563278" y="0"/>
                </a:lnTo>
                <a:lnTo>
                  <a:pt x="563278" y="556237"/>
                </a:lnTo>
                <a:lnTo>
                  <a:pt x="0" y="556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11724777" y="2827732"/>
            <a:ext cx="690866" cy="519877"/>
          </a:xfrm>
          <a:custGeom>
            <a:avLst/>
            <a:gdLst/>
            <a:ahLst/>
            <a:cxnLst/>
            <a:rect r="r" b="b" t="t" l="l"/>
            <a:pathLst>
              <a:path h="519877" w="690866">
                <a:moveTo>
                  <a:pt x="0" y="0"/>
                </a:moveTo>
                <a:lnTo>
                  <a:pt x="690866" y="0"/>
                </a:lnTo>
                <a:lnTo>
                  <a:pt x="690866" y="519877"/>
                </a:lnTo>
                <a:lnTo>
                  <a:pt x="0" y="51987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5" id="55"/>
          <p:cNvSpPr txBox="true"/>
          <p:nvPr/>
        </p:nvSpPr>
        <p:spPr>
          <a:xfrm rot="0">
            <a:off x="2731118" y="2625565"/>
            <a:ext cx="3304246" cy="89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784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Inscripción de Vecinos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60248" y="4972037"/>
            <a:ext cx="3355692" cy="134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79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Postulación Proyectos Vecinales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655550" y="7937077"/>
            <a:ext cx="3247558" cy="8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80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Emisión de Certificados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8086216" y="3443955"/>
            <a:ext cx="2104778" cy="27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4"/>
              </a:lnSpc>
              <a:spcBef>
                <a:spcPct val="0"/>
              </a:spcBef>
            </a:pPr>
            <a:r>
              <a:rPr lang="en-US" b="true" sz="1784" strike="noStrike" u="non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Contabilidad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651451" y="2625565"/>
            <a:ext cx="3443985" cy="8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79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Reservas espacios Comunitarios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294579" y="4920226"/>
            <a:ext cx="3619347" cy="134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79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Pagos en Linea para Reservas o cuotas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368018" y="8012613"/>
            <a:ext cx="3302059" cy="8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79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Notificaciones y Avisos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634038" y="5618031"/>
            <a:ext cx="2982175" cy="104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3280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Alcance del Proyecto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98205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498205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0"/>
              <a:ext cx="308340" cy="311974"/>
              <a:chOff x="0" y="0"/>
              <a:chExt cx="60907" cy="61624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</p:grpSp>
      <p:sp>
        <p:nvSpPr>
          <p:cNvPr name="Freeform 76" id="76"/>
          <p:cNvSpPr/>
          <p:nvPr/>
        </p:nvSpPr>
        <p:spPr>
          <a:xfrm flipH="false" flipV="false" rot="0">
            <a:off x="7211636" y="1454127"/>
            <a:ext cx="4441771" cy="719820"/>
          </a:xfrm>
          <a:custGeom>
            <a:avLst/>
            <a:gdLst/>
            <a:ahLst/>
            <a:cxnLst/>
            <a:rect r="r" b="b" t="t" l="l"/>
            <a:pathLst>
              <a:path h="719820" w="4441771">
                <a:moveTo>
                  <a:pt x="0" y="0"/>
                </a:moveTo>
                <a:lnTo>
                  <a:pt x="4441771" y="0"/>
                </a:lnTo>
                <a:lnTo>
                  <a:pt x="4441771" y="719820"/>
                </a:lnTo>
                <a:lnTo>
                  <a:pt x="0" y="71982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16918" r="0" b="-37348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460546" y="4042304"/>
            <a:ext cx="1329158" cy="1560655"/>
          </a:xfrm>
          <a:custGeom>
            <a:avLst/>
            <a:gdLst/>
            <a:ahLst/>
            <a:cxnLst/>
            <a:rect r="r" b="b" t="t" l="l"/>
            <a:pathLst>
              <a:path h="1560655" w="1329158">
                <a:moveTo>
                  <a:pt x="0" y="0"/>
                </a:moveTo>
                <a:lnTo>
                  <a:pt x="1329159" y="0"/>
                </a:lnTo>
                <a:lnTo>
                  <a:pt x="1329159" y="1560655"/>
                </a:lnTo>
                <a:lnTo>
                  <a:pt x="0" y="156065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2525" y="0"/>
            <a:ext cx="4705475" cy="10670512"/>
            <a:chOff x="0" y="0"/>
            <a:chExt cx="1239302" cy="28103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9302" cy="2810341"/>
            </a:xfrm>
            <a:custGeom>
              <a:avLst/>
              <a:gdLst/>
              <a:ahLst/>
              <a:cxnLst/>
              <a:rect r="r" b="b" t="t" l="l"/>
              <a:pathLst>
                <a:path h="2810341" w="1239302">
                  <a:moveTo>
                    <a:pt x="0" y="0"/>
                  </a:moveTo>
                  <a:lnTo>
                    <a:pt x="1239302" y="0"/>
                  </a:lnTo>
                  <a:lnTo>
                    <a:pt x="1239302" y="2810341"/>
                  </a:lnTo>
                  <a:lnTo>
                    <a:pt x="0" y="2810341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239302" cy="2877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1">
                <a:lnSpc>
                  <a:spcPts val="3743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3098" y="1510803"/>
            <a:ext cx="5510663" cy="169968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3582525" y="0"/>
            <a:ext cx="4705475" cy="10287000"/>
            <a:chOff x="0" y="0"/>
            <a:chExt cx="729001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9001" cy="1593725"/>
            </a:xfrm>
            <a:custGeom>
              <a:avLst/>
              <a:gdLst/>
              <a:ahLst/>
              <a:cxnLst/>
              <a:rect r="r" b="b" t="t" l="l"/>
              <a:pathLst>
                <a:path h="1593725" w="729001">
                  <a:moveTo>
                    <a:pt x="0" y="0"/>
                  </a:moveTo>
                  <a:lnTo>
                    <a:pt x="729001" y="0"/>
                  </a:lnTo>
                  <a:lnTo>
                    <a:pt x="72900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>
                <a:alphaModFix amt="31000"/>
              </a:blip>
              <a:stretch>
                <a:fillRect l="-112692" t="0" r="-112692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283947" y="4547286"/>
            <a:ext cx="6170650" cy="3539410"/>
            <a:chOff x="0" y="0"/>
            <a:chExt cx="7981950" cy="4578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-3677" r="0" b="-3677"/>
              </a:stretch>
            </a:blipFill>
          </p:spPr>
        </p:sp>
      </p:grpSp>
      <p:graphicFrame>
        <p:nvGraphicFramePr>
          <p:cNvPr name="Object 14" id="14"/>
          <p:cNvGraphicFramePr/>
          <p:nvPr/>
        </p:nvGraphicFramePr>
        <p:xfrm>
          <a:off x="448799" y="3297362"/>
          <a:ext cx="9429750" cy="3143250"/>
        </p:xfrm>
        <a:graphic>
          <a:graphicData uri="http://schemas.openxmlformats.org/presentationml/2006/ole">
            <p:oleObj imgW="11315700" imgH="5029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926318" y="164891"/>
            <a:ext cx="10626113" cy="112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7"/>
              </a:lnSpc>
              <a:spcBef>
                <a:spcPct val="0"/>
              </a:spcBef>
            </a:pPr>
            <a:r>
              <a:rPr lang="en-US" b="true" sz="5589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Competencias de Mercado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2320" y="1259490"/>
            <a:ext cx="5137055" cy="58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9"/>
              </a:lnSpc>
              <a:spcBef>
                <a:spcPct val="0"/>
              </a:spcBef>
            </a:pPr>
            <a:r>
              <a:rPr lang="en-US" b="true" sz="2877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Principales competencias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9835" y="1786413"/>
            <a:ext cx="14633884" cy="7278956"/>
            <a:chOff x="0" y="0"/>
            <a:chExt cx="3710507" cy="1845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0507" cy="1845622"/>
            </a:xfrm>
            <a:custGeom>
              <a:avLst/>
              <a:gdLst/>
              <a:ahLst/>
              <a:cxnLst/>
              <a:rect r="r" b="b" t="t" l="l"/>
              <a:pathLst>
                <a:path h="1845622" w="3710507">
                  <a:moveTo>
                    <a:pt x="21162" y="0"/>
                  </a:moveTo>
                  <a:lnTo>
                    <a:pt x="3689345" y="0"/>
                  </a:lnTo>
                  <a:cubicBezTo>
                    <a:pt x="3701033" y="0"/>
                    <a:pt x="3710507" y="9474"/>
                    <a:pt x="3710507" y="21162"/>
                  </a:cubicBezTo>
                  <a:lnTo>
                    <a:pt x="3710507" y="1824460"/>
                  </a:lnTo>
                  <a:cubicBezTo>
                    <a:pt x="3710507" y="1830073"/>
                    <a:pt x="3708277" y="1835455"/>
                    <a:pt x="3704309" y="1839424"/>
                  </a:cubicBezTo>
                  <a:cubicBezTo>
                    <a:pt x="3700340" y="1843393"/>
                    <a:pt x="3694958" y="1845622"/>
                    <a:pt x="3689345" y="1845622"/>
                  </a:cubicBezTo>
                  <a:lnTo>
                    <a:pt x="21162" y="1845622"/>
                  </a:lnTo>
                  <a:cubicBezTo>
                    <a:pt x="15549" y="1845622"/>
                    <a:pt x="10167" y="1843393"/>
                    <a:pt x="6198" y="1839424"/>
                  </a:cubicBezTo>
                  <a:cubicBezTo>
                    <a:pt x="2230" y="1835455"/>
                    <a:pt x="0" y="1830073"/>
                    <a:pt x="0" y="1824460"/>
                  </a:cubicBezTo>
                  <a:lnTo>
                    <a:pt x="0" y="21162"/>
                  </a:lnTo>
                  <a:cubicBezTo>
                    <a:pt x="0" y="15549"/>
                    <a:pt x="2230" y="10167"/>
                    <a:pt x="6198" y="6198"/>
                  </a:cubicBezTo>
                  <a:cubicBezTo>
                    <a:pt x="10167" y="2230"/>
                    <a:pt x="15549" y="0"/>
                    <a:pt x="21162" y="0"/>
                  </a:cubicBezTo>
                  <a:close/>
                </a:path>
              </a:pathLst>
            </a:custGeom>
            <a:solidFill>
              <a:srgbClr val="FBFC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3710507" cy="1969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5400000">
            <a:off x="15522939" y="7876782"/>
            <a:ext cx="1079793" cy="1066050"/>
          </a:xfrm>
          <a:custGeom>
            <a:avLst/>
            <a:gdLst/>
            <a:ahLst/>
            <a:cxnLst/>
            <a:rect r="r" b="b" t="t" l="l"/>
            <a:pathLst>
              <a:path h="1066050" w="1079793">
                <a:moveTo>
                  <a:pt x="0" y="1066050"/>
                </a:moveTo>
                <a:lnTo>
                  <a:pt x="1079793" y="1066050"/>
                </a:lnTo>
                <a:lnTo>
                  <a:pt x="1079793" y="0"/>
                </a:lnTo>
                <a:lnTo>
                  <a:pt x="0" y="0"/>
                </a:lnTo>
                <a:lnTo>
                  <a:pt x="0" y="1066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393064" y="2063288"/>
            <a:ext cx="14047426" cy="6725205"/>
          </a:xfrm>
          <a:custGeom>
            <a:avLst/>
            <a:gdLst/>
            <a:ahLst/>
            <a:cxnLst/>
            <a:rect r="r" b="b" t="t" l="l"/>
            <a:pathLst>
              <a:path h="6725205" w="14047426">
                <a:moveTo>
                  <a:pt x="0" y="0"/>
                </a:moveTo>
                <a:lnTo>
                  <a:pt x="14047426" y="0"/>
                </a:lnTo>
                <a:lnTo>
                  <a:pt x="14047426" y="6725205"/>
                </a:lnTo>
                <a:lnTo>
                  <a:pt x="0" y="6725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41232" y="9251208"/>
            <a:ext cx="5034292" cy="815842"/>
          </a:xfrm>
          <a:custGeom>
            <a:avLst/>
            <a:gdLst/>
            <a:ahLst/>
            <a:cxnLst/>
            <a:rect r="r" b="b" t="t" l="l"/>
            <a:pathLst>
              <a:path h="815842" w="5034292">
                <a:moveTo>
                  <a:pt x="0" y="0"/>
                </a:moveTo>
                <a:lnTo>
                  <a:pt x="5034292" y="0"/>
                </a:lnTo>
                <a:lnTo>
                  <a:pt x="5034292" y="815842"/>
                </a:lnTo>
                <a:lnTo>
                  <a:pt x="0" y="815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918" r="0" b="-3734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58102" y="95593"/>
            <a:ext cx="6496146" cy="933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4"/>
              </a:lnSpc>
              <a:spcBef>
                <a:spcPct val="0"/>
              </a:spcBef>
            </a:pPr>
            <a:r>
              <a:rPr lang="en-US" b="true" sz="4564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Procesos de Negocio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24194" y="1139699"/>
            <a:ext cx="13563961" cy="45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2629" spc="78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Diagramas BPM de algunos de nuestros principales procesos de Negocios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92773" y="1747613"/>
            <a:ext cx="11549761" cy="6337931"/>
          </a:xfrm>
          <a:custGeom>
            <a:avLst/>
            <a:gdLst/>
            <a:ahLst/>
            <a:cxnLst/>
            <a:rect r="r" b="b" t="t" l="l"/>
            <a:pathLst>
              <a:path h="6337931" w="11549761">
                <a:moveTo>
                  <a:pt x="0" y="0"/>
                </a:moveTo>
                <a:lnTo>
                  <a:pt x="11549761" y="0"/>
                </a:lnTo>
                <a:lnTo>
                  <a:pt x="11549761" y="6337931"/>
                </a:lnTo>
                <a:lnTo>
                  <a:pt x="0" y="6337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06998" y="335898"/>
            <a:ext cx="12674003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1F4276"/>
                </a:solidFill>
                <a:latin typeface="Gotham Bold"/>
                <a:ea typeface="Gotham Bold"/>
                <a:cs typeface="Gotham Bold"/>
                <a:sym typeface="Gotham Bold"/>
              </a:rPr>
              <a:t>Metodologia seleccionada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746768" y="8697067"/>
            <a:ext cx="4441771" cy="719820"/>
          </a:xfrm>
          <a:custGeom>
            <a:avLst/>
            <a:gdLst/>
            <a:ahLst/>
            <a:cxnLst/>
            <a:rect r="r" b="b" t="t" l="l"/>
            <a:pathLst>
              <a:path h="719820" w="4441771">
                <a:moveTo>
                  <a:pt x="0" y="0"/>
                </a:moveTo>
                <a:lnTo>
                  <a:pt x="4441772" y="0"/>
                </a:lnTo>
                <a:lnTo>
                  <a:pt x="4441772" y="719819"/>
                </a:lnTo>
                <a:lnTo>
                  <a:pt x="0" y="719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918" r="0" b="-37348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6768" y="8697067"/>
            <a:ext cx="4441771" cy="719820"/>
          </a:xfrm>
          <a:custGeom>
            <a:avLst/>
            <a:gdLst/>
            <a:ahLst/>
            <a:cxnLst/>
            <a:rect r="r" b="b" t="t" l="l"/>
            <a:pathLst>
              <a:path h="719820" w="4441771">
                <a:moveTo>
                  <a:pt x="0" y="0"/>
                </a:moveTo>
                <a:lnTo>
                  <a:pt x="4441772" y="0"/>
                </a:lnTo>
                <a:lnTo>
                  <a:pt x="4441772" y="719819"/>
                </a:lnTo>
                <a:lnTo>
                  <a:pt x="0" y="719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918" r="0" b="-373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06998" y="2799881"/>
            <a:ext cx="12574618" cy="4542581"/>
          </a:xfrm>
          <a:custGeom>
            <a:avLst/>
            <a:gdLst/>
            <a:ahLst/>
            <a:cxnLst/>
            <a:rect r="r" b="b" t="t" l="l"/>
            <a:pathLst>
              <a:path h="4542581" w="12574618">
                <a:moveTo>
                  <a:pt x="0" y="0"/>
                </a:moveTo>
                <a:lnTo>
                  <a:pt x="12574619" y="0"/>
                </a:lnTo>
                <a:lnTo>
                  <a:pt x="12574619" y="4542581"/>
                </a:lnTo>
                <a:lnTo>
                  <a:pt x="0" y="454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06998" y="335898"/>
            <a:ext cx="12674003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1F4276"/>
                </a:solidFill>
                <a:latin typeface="Gotham Bold"/>
                <a:ea typeface="Gotham Bold"/>
                <a:cs typeface="Gotham Bold"/>
                <a:sym typeface="Gotham Bold"/>
              </a:rPr>
              <a:t>Metodologia seleccionada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2172" y="1563771"/>
            <a:ext cx="17663657" cy="7948645"/>
          </a:xfrm>
          <a:custGeom>
            <a:avLst/>
            <a:gdLst/>
            <a:ahLst/>
            <a:cxnLst/>
            <a:rect r="r" b="b" t="t" l="l"/>
            <a:pathLst>
              <a:path h="7948645" w="17663657">
                <a:moveTo>
                  <a:pt x="0" y="0"/>
                </a:moveTo>
                <a:lnTo>
                  <a:pt x="17663656" y="0"/>
                </a:lnTo>
                <a:lnTo>
                  <a:pt x="17663656" y="7948646"/>
                </a:lnTo>
                <a:lnTo>
                  <a:pt x="0" y="7948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36073" y="-261492"/>
            <a:ext cx="8815855" cy="144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2"/>
              </a:lnSpc>
              <a:spcBef>
                <a:spcPct val="0"/>
              </a:spcBef>
            </a:pPr>
            <a:r>
              <a:rPr lang="en-US" b="true" sz="720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Product Backlog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4551" y="2300398"/>
            <a:ext cx="5641851" cy="7383730"/>
            <a:chOff x="0" y="0"/>
            <a:chExt cx="1190443" cy="15579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0443" cy="1557983"/>
            </a:xfrm>
            <a:custGeom>
              <a:avLst/>
              <a:gdLst/>
              <a:ahLst/>
              <a:cxnLst/>
              <a:rect r="r" b="b" t="t" l="l"/>
              <a:pathLst>
                <a:path h="1557983" w="1190443">
                  <a:moveTo>
                    <a:pt x="39795" y="0"/>
                  </a:moveTo>
                  <a:lnTo>
                    <a:pt x="1150649" y="0"/>
                  </a:lnTo>
                  <a:cubicBezTo>
                    <a:pt x="1161203" y="0"/>
                    <a:pt x="1171325" y="4193"/>
                    <a:pt x="1178788" y="11656"/>
                  </a:cubicBezTo>
                  <a:cubicBezTo>
                    <a:pt x="1186251" y="19119"/>
                    <a:pt x="1190443" y="29240"/>
                    <a:pt x="1190443" y="39795"/>
                  </a:cubicBezTo>
                  <a:lnTo>
                    <a:pt x="1190443" y="1518189"/>
                  </a:lnTo>
                  <a:cubicBezTo>
                    <a:pt x="1190443" y="1528743"/>
                    <a:pt x="1186251" y="1538865"/>
                    <a:pt x="1178788" y="1546328"/>
                  </a:cubicBezTo>
                  <a:cubicBezTo>
                    <a:pt x="1171325" y="1553791"/>
                    <a:pt x="1161203" y="1557983"/>
                    <a:pt x="1150649" y="1557983"/>
                  </a:cubicBezTo>
                  <a:lnTo>
                    <a:pt x="39795" y="1557983"/>
                  </a:lnTo>
                  <a:cubicBezTo>
                    <a:pt x="29240" y="1557983"/>
                    <a:pt x="19119" y="1553791"/>
                    <a:pt x="11656" y="1546328"/>
                  </a:cubicBezTo>
                  <a:cubicBezTo>
                    <a:pt x="4193" y="1538865"/>
                    <a:pt x="0" y="1528743"/>
                    <a:pt x="0" y="1518189"/>
                  </a:cubicBezTo>
                  <a:lnTo>
                    <a:pt x="0" y="39795"/>
                  </a:lnTo>
                  <a:cubicBezTo>
                    <a:pt x="0" y="29240"/>
                    <a:pt x="4193" y="19119"/>
                    <a:pt x="11656" y="11656"/>
                  </a:cubicBezTo>
                  <a:cubicBezTo>
                    <a:pt x="19119" y="4193"/>
                    <a:pt x="29240" y="0"/>
                    <a:pt x="39795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190443" cy="1681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20353" y="2300398"/>
            <a:ext cx="5674492" cy="7383730"/>
            <a:chOff x="0" y="0"/>
            <a:chExt cx="1226869" cy="1596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6869" cy="1596420"/>
            </a:xfrm>
            <a:custGeom>
              <a:avLst/>
              <a:gdLst/>
              <a:ahLst/>
              <a:cxnLst/>
              <a:rect r="r" b="b" t="t" l="l"/>
              <a:pathLst>
                <a:path h="1596420" w="1226869">
                  <a:moveTo>
                    <a:pt x="39566" y="0"/>
                  </a:moveTo>
                  <a:lnTo>
                    <a:pt x="1187304" y="0"/>
                  </a:lnTo>
                  <a:cubicBezTo>
                    <a:pt x="1209155" y="0"/>
                    <a:pt x="1226869" y="17714"/>
                    <a:pt x="1226869" y="39566"/>
                  </a:cubicBezTo>
                  <a:lnTo>
                    <a:pt x="1226869" y="1556854"/>
                  </a:lnTo>
                  <a:cubicBezTo>
                    <a:pt x="1226869" y="1578706"/>
                    <a:pt x="1209155" y="1596420"/>
                    <a:pt x="1187304" y="1596420"/>
                  </a:cubicBezTo>
                  <a:lnTo>
                    <a:pt x="39566" y="1596420"/>
                  </a:lnTo>
                  <a:cubicBezTo>
                    <a:pt x="17714" y="1596420"/>
                    <a:pt x="0" y="1578706"/>
                    <a:pt x="0" y="1556854"/>
                  </a:cubicBezTo>
                  <a:lnTo>
                    <a:pt x="0" y="39566"/>
                  </a:lnTo>
                  <a:cubicBezTo>
                    <a:pt x="0" y="17714"/>
                    <a:pt x="17714" y="0"/>
                    <a:pt x="395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226869" cy="1720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16873" y="2300398"/>
            <a:ext cx="5446655" cy="7399333"/>
            <a:chOff x="0" y="0"/>
            <a:chExt cx="1175126" cy="15964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5126" cy="1596420"/>
            </a:xfrm>
            <a:custGeom>
              <a:avLst/>
              <a:gdLst/>
              <a:ahLst/>
              <a:cxnLst/>
              <a:rect r="r" b="b" t="t" l="l"/>
              <a:pathLst>
                <a:path h="1596420" w="1175126">
                  <a:moveTo>
                    <a:pt x="41221" y="0"/>
                  </a:moveTo>
                  <a:lnTo>
                    <a:pt x="1133905" y="0"/>
                  </a:lnTo>
                  <a:cubicBezTo>
                    <a:pt x="1144838" y="0"/>
                    <a:pt x="1155322" y="4343"/>
                    <a:pt x="1163053" y="12073"/>
                  </a:cubicBezTo>
                  <a:cubicBezTo>
                    <a:pt x="1170783" y="19804"/>
                    <a:pt x="1175126" y="30288"/>
                    <a:pt x="1175126" y="41221"/>
                  </a:cubicBezTo>
                  <a:lnTo>
                    <a:pt x="1175126" y="1555199"/>
                  </a:lnTo>
                  <a:cubicBezTo>
                    <a:pt x="1175126" y="1566132"/>
                    <a:pt x="1170783" y="1576616"/>
                    <a:pt x="1163053" y="1584347"/>
                  </a:cubicBezTo>
                  <a:cubicBezTo>
                    <a:pt x="1155322" y="1592077"/>
                    <a:pt x="1144838" y="1596420"/>
                    <a:pt x="1133905" y="1596420"/>
                  </a:cubicBezTo>
                  <a:lnTo>
                    <a:pt x="41221" y="1596420"/>
                  </a:lnTo>
                  <a:cubicBezTo>
                    <a:pt x="30288" y="1596420"/>
                    <a:pt x="19804" y="1592077"/>
                    <a:pt x="12073" y="1584347"/>
                  </a:cubicBezTo>
                  <a:cubicBezTo>
                    <a:pt x="4343" y="1576616"/>
                    <a:pt x="0" y="1566132"/>
                    <a:pt x="0" y="1555199"/>
                  </a:cubicBezTo>
                  <a:lnTo>
                    <a:pt x="0" y="41221"/>
                  </a:lnTo>
                  <a:cubicBezTo>
                    <a:pt x="0" y="30288"/>
                    <a:pt x="4343" y="19804"/>
                    <a:pt x="12073" y="12073"/>
                  </a:cubicBezTo>
                  <a:cubicBezTo>
                    <a:pt x="19804" y="4343"/>
                    <a:pt x="30288" y="0"/>
                    <a:pt x="41221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175126" cy="1720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947030" y="2606875"/>
            <a:ext cx="4829279" cy="6780283"/>
          </a:xfrm>
          <a:custGeom>
            <a:avLst/>
            <a:gdLst/>
            <a:ahLst/>
            <a:cxnLst/>
            <a:rect r="r" b="b" t="t" l="l"/>
            <a:pathLst>
              <a:path h="6780283" w="4829279">
                <a:moveTo>
                  <a:pt x="0" y="0"/>
                </a:moveTo>
                <a:lnTo>
                  <a:pt x="4829279" y="0"/>
                </a:lnTo>
                <a:lnTo>
                  <a:pt x="4829279" y="6780283"/>
                </a:lnTo>
                <a:lnTo>
                  <a:pt x="0" y="6780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5" t="0" r="-395" b="-5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06289" y="2606875"/>
            <a:ext cx="5130361" cy="6780283"/>
          </a:xfrm>
          <a:custGeom>
            <a:avLst/>
            <a:gdLst/>
            <a:ahLst/>
            <a:cxnLst/>
            <a:rect r="r" b="b" t="t" l="l"/>
            <a:pathLst>
              <a:path h="6780283" w="5130361">
                <a:moveTo>
                  <a:pt x="0" y="0"/>
                </a:moveTo>
                <a:lnTo>
                  <a:pt x="5130362" y="0"/>
                </a:lnTo>
                <a:lnTo>
                  <a:pt x="5130362" y="6780283"/>
                </a:lnTo>
                <a:lnTo>
                  <a:pt x="0" y="6780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5" t="0" r="-445" b="-345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99364" y="2606875"/>
            <a:ext cx="5116469" cy="6780283"/>
          </a:xfrm>
          <a:custGeom>
            <a:avLst/>
            <a:gdLst/>
            <a:ahLst/>
            <a:cxnLst/>
            <a:rect r="r" b="b" t="t" l="l"/>
            <a:pathLst>
              <a:path h="6780283" w="5116469">
                <a:moveTo>
                  <a:pt x="0" y="0"/>
                </a:moveTo>
                <a:lnTo>
                  <a:pt x="5116469" y="0"/>
                </a:lnTo>
                <a:lnTo>
                  <a:pt x="5116469" y="6780283"/>
                </a:lnTo>
                <a:lnTo>
                  <a:pt x="0" y="6780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86350" y="66631"/>
            <a:ext cx="8115300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Historias de Usuario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81816" y="1281745"/>
            <a:ext cx="13119292" cy="35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965" spc="58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Las historias de usuarios fueron definidas por cada actividad que se encuentra en el Tablero Trello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92473" y="2908829"/>
            <a:ext cx="3116592" cy="5692858"/>
            <a:chOff x="0" y="0"/>
            <a:chExt cx="948865" cy="17332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8865" cy="1733224"/>
            </a:xfrm>
            <a:custGeom>
              <a:avLst/>
              <a:gdLst/>
              <a:ahLst/>
              <a:cxnLst/>
              <a:rect r="r" b="b" t="t" l="l"/>
              <a:pathLst>
                <a:path h="1733224" w="948865">
                  <a:moveTo>
                    <a:pt x="72039" y="0"/>
                  </a:moveTo>
                  <a:lnTo>
                    <a:pt x="876826" y="0"/>
                  </a:lnTo>
                  <a:cubicBezTo>
                    <a:pt x="895932" y="0"/>
                    <a:pt x="914255" y="7590"/>
                    <a:pt x="927765" y="21100"/>
                  </a:cubicBezTo>
                  <a:cubicBezTo>
                    <a:pt x="941275" y="34610"/>
                    <a:pt x="948865" y="52933"/>
                    <a:pt x="948865" y="72039"/>
                  </a:cubicBezTo>
                  <a:lnTo>
                    <a:pt x="948865" y="1661185"/>
                  </a:lnTo>
                  <a:cubicBezTo>
                    <a:pt x="948865" y="1700971"/>
                    <a:pt x="916612" y="1733224"/>
                    <a:pt x="876826" y="1733224"/>
                  </a:cubicBezTo>
                  <a:lnTo>
                    <a:pt x="72039" y="1733224"/>
                  </a:lnTo>
                  <a:cubicBezTo>
                    <a:pt x="32253" y="1733224"/>
                    <a:pt x="0" y="1700971"/>
                    <a:pt x="0" y="1661185"/>
                  </a:cubicBezTo>
                  <a:lnTo>
                    <a:pt x="0" y="72039"/>
                  </a:lnTo>
                  <a:cubicBezTo>
                    <a:pt x="0" y="32253"/>
                    <a:pt x="32253" y="0"/>
                    <a:pt x="72039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948865" cy="1857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58337" y="2818855"/>
            <a:ext cx="2691022" cy="5764613"/>
            <a:chOff x="0" y="0"/>
            <a:chExt cx="708747" cy="15182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8747" cy="1518252"/>
            </a:xfrm>
            <a:custGeom>
              <a:avLst/>
              <a:gdLst/>
              <a:ahLst/>
              <a:cxnLst/>
              <a:rect r="r" b="b" t="t" l="l"/>
              <a:pathLst>
                <a:path h="1518252" w="708747">
                  <a:moveTo>
                    <a:pt x="83431" y="0"/>
                  </a:moveTo>
                  <a:lnTo>
                    <a:pt x="625315" y="0"/>
                  </a:lnTo>
                  <a:cubicBezTo>
                    <a:pt x="671393" y="0"/>
                    <a:pt x="708747" y="37353"/>
                    <a:pt x="708747" y="83431"/>
                  </a:cubicBezTo>
                  <a:lnTo>
                    <a:pt x="708747" y="1434821"/>
                  </a:lnTo>
                  <a:cubicBezTo>
                    <a:pt x="708747" y="1480898"/>
                    <a:pt x="671393" y="1518252"/>
                    <a:pt x="625315" y="1518252"/>
                  </a:cubicBezTo>
                  <a:lnTo>
                    <a:pt x="83431" y="1518252"/>
                  </a:lnTo>
                  <a:cubicBezTo>
                    <a:pt x="37353" y="1518252"/>
                    <a:pt x="0" y="1480898"/>
                    <a:pt x="0" y="1434821"/>
                  </a:cubicBezTo>
                  <a:lnTo>
                    <a:pt x="0" y="83431"/>
                  </a:lnTo>
                  <a:cubicBezTo>
                    <a:pt x="0" y="37353"/>
                    <a:pt x="37353" y="0"/>
                    <a:pt x="83431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708747" cy="1642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28240" y="2908829"/>
            <a:ext cx="4066878" cy="5584664"/>
            <a:chOff x="0" y="0"/>
            <a:chExt cx="1071112" cy="1470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1112" cy="1470858"/>
            </a:xfrm>
            <a:custGeom>
              <a:avLst/>
              <a:gdLst/>
              <a:ahLst/>
              <a:cxnLst/>
              <a:rect r="r" b="b" t="t" l="l"/>
              <a:pathLst>
                <a:path h="1470858" w="1071112">
                  <a:moveTo>
                    <a:pt x="55206" y="0"/>
                  </a:moveTo>
                  <a:lnTo>
                    <a:pt x="1015906" y="0"/>
                  </a:lnTo>
                  <a:cubicBezTo>
                    <a:pt x="1030547" y="0"/>
                    <a:pt x="1044589" y="5816"/>
                    <a:pt x="1054942" y="16169"/>
                  </a:cubicBezTo>
                  <a:cubicBezTo>
                    <a:pt x="1065296" y="26523"/>
                    <a:pt x="1071112" y="40564"/>
                    <a:pt x="1071112" y="55206"/>
                  </a:cubicBezTo>
                  <a:lnTo>
                    <a:pt x="1071112" y="1415652"/>
                  </a:lnTo>
                  <a:cubicBezTo>
                    <a:pt x="1071112" y="1430294"/>
                    <a:pt x="1065296" y="1444335"/>
                    <a:pt x="1054942" y="1454689"/>
                  </a:cubicBezTo>
                  <a:cubicBezTo>
                    <a:pt x="1044589" y="1465042"/>
                    <a:pt x="1030547" y="1470858"/>
                    <a:pt x="1015906" y="1470858"/>
                  </a:cubicBezTo>
                  <a:lnTo>
                    <a:pt x="55206" y="1470858"/>
                  </a:lnTo>
                  <a:cubicBezTo>
                    <a:pt x="40564" y="1470858"/>
                    <a:pt x="26523" y="1465042"/>
                    <a:pt x="16169" y="1454689"/>
                  </a:cubicBezTo>
                  <a:cubicBezTo>
                    <a:pt x="5816" y="1444335"/>
                    <a:pt x="0" y="1430294"/>
                    <a:pt x="0" y="1415652"/>
                  </a:cubicBezTo>
                  <a:lnTo>
                    <a:pt x="0" y="55206"/>
                  </a:lnTo>
                  <a:cubicBezTo>
                    <a:pt x="0" y="40564"/>
                    <a:pt x="5816" y="26523"/>
                    <a:pt x="16169" y="16169"/>
                  </a:cubicBezTo>
                  <a:cubicBezTo>
                    <a:pt x="26523" y="5816"/>
                    <a:pt x="40564" y="0"/>
                    <a:pt x="5520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071112" cy="159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092767" y="8898390"/>
            <a:ext cx="4441771" cy="719820"/>
          </a:xfrm>
          <a:custGeom>
            <a:avLst/>
            <a:gdLst/>
            <a:ahLst/>
            <a:cxnLst/>
            <a:rect r="r" b="b" t="t" l="l"/>
            <a:pathLst>
              <a:path h="719820" w="4441771">
                <a:moveTo>
                  <a:pt x="0" y="0"/>
                </a:moveTo>
                <a:lnTo>
                  <a:pt x="4441771" y="0"/>
                </a:lnTo>
                <a:lnTo>
                  <a:pt x="4441771" y="719820"/>
                </a:lnTo>
                <a:lnTo>
                  <a:pt x="0" y="719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918" r="0" b="-3734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03234" y="3108222"/>
            <a:ext cx="3716889" cy="5149440"/>
          </a:xfrm>
          <a:custGeom>
            <a:avLst/>
            <a:gdLst/>
            <a:ahLst/>
            <a:cxnLst/>
            <a:rect r="r" b="b" t="t" l="l"/>
            <a:pathLst>
              <a:path h="5149440" w="3716889">
                <a:moveTo>
                  <a:pt x="0" y="0"/>
                </a:moveTo>
                <a:lnTo>
                  <a:pt x="3716889" y="0"/>
                </a:lnTo>
                <a:lnTo>
                  <a:pt x="3716889" y="5149439"/>
                </a:lnTo>
                <a:lnTo>
                  <a:pt x="0" y="5149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743793" y="3102259"/>
            <a:ext cx="2652488" cy="5234244"/>
          </a:xfrm>
          <a:custGeom>
            <a:avLst/>
            <a:gdLst/>
            <a:ahLst/>
            <a:cxnLst/>
            <a:rect r="r" b="b" t="t" l="l"/>
            <a:pathLst>
              <a:path h="5234244" w="2652488">
                <a:moveTo>
                  <a:pt x="0" y="0"/>
                </a:moveTo>
                <a:lnTo>
                  <a:pt x="2652488" y="0"/>
                </a:lnTo>
                <a:lnTo>
                  <a:pt x="2652488" y="5234244"/>
                </a:lnTo>
                <a:lnTo>
                  <a:pt x="0" y="5234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42840" y="3051011"/>
            <a:ext cx="2352009" cy="5300301"/>
          </a:xfrm>
          <a:custGeom>
            <a:avLst/>
            <a:gdLst/>
            <a:ahLst/>
            <a:cxnLst/>
            <a:rect r="r" b="b" t="t" l="l"/>
            <a:pathLst>
              <a:path h="5300301" w="2352009">
                <a:moveTo>
                  <a:pt x="0" y="0"/>
                </a:moveTo>
                <a:lnTo>
                  <a:pt x="2352009" y="0"/>
                </a:lnTo>
                <a:lnTo>
                  <a:pt x="2352009" y="5300301"/>
                </a:lnTo>
                <a:lnTo>
                  <a:pt x="0" y="53003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71600" y="2908829"/>
            <a:ext cx="3273148" cy="5692858"/>
            <a:chOff x="0" y="0"/>
            <a:chExt cx="862064" cy="14993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2064" cy="1499354"/>
            </a:xfrm>
            <a:custGeom>
              <a:avLst/>
              <a:gdLst/>
              <a:ahLst/>
              <a:cxnLst/>
              <a:rect r="r" b="b" t="t" l="l"/>
              <a:pathLst>
                <a:path h="1499354" w="862064">
                  <a:moveTo>
                    <a:pt x="68593" y="0"/>
                  </a:moveTo>
                  <a:lnTo>
                    <a:pt x="793470" y="0"/>
                  </a:lnTo>
                  <a:cubicBezTo>
                    <a:pt x="831353" y="0"/>
                    <a:pt x="862064" y="30710"/>
                    <a:pt x="862064" y="68593"/>
                  </a:cubicBezTo>
                  <a:lnTo>
                    <a:pt x="862064" y="1430760"/>
                  </a:lnTo>
                  <a:cubicBezTo>
                    <a:pt x="862064" y="1468643"/>
                    <a:pt x="831353" y="1499354"/>
                    <a:pt x="793470" y="1499354"/>
                  </a:cubicBezTo>
                  <a:lnTo>
                    <a:pt x="68593" y="1499354"/>
                  </a:lnTo>
                  <a:cubicBezTo>
                    <a:pt x="30710" y="1499354"/>
                    <a:pt x="0" y="1468643"/>
                    <a:pt x="0" y="1430760"/>
                  </a:cubicBezTo>
                  <a:lnTo>
                    <a:pt x="0" y="68593"/>
                  </a:lnTo>
                  <a:cubicBezTo>
                    <a:pt x="0" y="30710"/>
                    <a:pt x="30710" y="0"/>
                    <a:pt x="6859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23825"/>
              <a:ext cx="862064" cy="1623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84046" y="3176164"/>
            <a:ext cx="2841627" cy="5175148"/>
          </a:xfrm>
          <a:custGeom>
            <a:avLst/>
            <a:gdLst/>
            <a:ahLst/>
            <a:cxnLst/>
            <a:rect r="r" b="b" t="t" l="l"/>
            <a:pathLst>
              <a:path h="5175148" w="2841627">
                <a:moveTo>
                  <a:pt x="0" y="0"/>
                </a:moveTo>
                <a:lnTo>
                  <a:pt x="2841627" y="0"/>
                </a:lnTo>
                <a:lnTo>
                  <a:pt x="2841627" y="5175148"/>
                </a:lnTo>
                <a:lnTo>
                  <a:pt x="0" y="5175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144388" y="929257"/>
            <a:ext cx="14338529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Principales tablas del Modelo de Datos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31425" y="3020839"/>
            <a:ext cx="5394148" cy="5394148"/>
          </a:xfrm>
          <a:custGeom>
            <a:avLst/>
            <a:gdLst/>
            <a:ahLst/>
            <a:cxnLst/>
            <a:rect r="r" b="b" t="t" l="l"/>
            <a:pathLst>
              <a:path h="5394148" w="5394148">
                <a:moveTo>
                  <a:pt x="0" y="0"/>
                </a:moveTo>
                <a:lnTo>
                  <a:pt x="5394149" y="0"/>
                </a:lnTo>
                <a:lnTo>
                  <a:pt x="5394149" y="5394148"/>
                </a:lnTo>
                <a:lnTo>
                  <a:pt x="0" y="53941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6833735" y="3429896"/>
            <a:ext cx="4582781" cy="458278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>
                <a:lnSpc>
                  <a:spcPts val="161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63149" y="4625858"/>
            <a:ext cx="447669" cy="4476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13003" y="3138481"/>
            <a:ext cx="447669" cy="4476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08838" y="7853458"/>
            <a:ext cx="447669" cy="4476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46946" y="4643852"/>
            <a:ext cx="447669" cy="44766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46946" y="6439069"/>
            <a:ext cx="447669" cy="44766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76942" y="2304111"/>
            <a:ext cx="5082362" cy="1567119"/>
            <a:chOff x="0" y="0"/>
            <a:chExt cx="1467458" cy="4524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85523" y="3154759"/>
            <a:ext cx="447669" cy="44766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585523" y="7827075"/>
            <a:ext cx="447669" cy="44766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463149" y="6439069"/>
            <a:ext cx="447669" cy="44766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60451" y="2304111"/>
            <a:ext cx="5082362" cy="1567119"/>
            <a:chOff x="0" y="0"/>
            <a:chExt cx="1467458" cy="4524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467458" cy="46200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l" marL="0" indent="0" lvl="0">
                <a:lnSpc>
                  <a:spcPts val="22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98336" y="7691181"/>
            <a:ext cx="5082362" cy="1567119"/>
            <a:chOff x="0" y="0"/>
            <a:chExt cx="1467458" cy="4524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160451" y="7691181"/>
            <a:ext cx="5082362" cy="1567119"/>
            <a:chOff x="0" y="0"/>
            <a:chExt cx="1467458" cy="4524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anchor="ctr" rtlCol="false" tIns="29800" lIns="29800" bIns="29800" rIns="29800"/>
            <a:lstStyle/>
            <a:p>
              <a:pPr algn="ctr" marL="0" indent="0" lvl="0">
                <a:lnSpc>
                  <a:spcPts val="16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5154090" y="5347302"/>
            <a:ext cx="563278" cy="556237"/>
          </a:xfrm>
          <a:custGeom>
            <a:avLst/>
            <a:gdLst/>
            <a:ahLst/>
            <a:cxnLst/>
            <a:rect r="r" b="b" t="t" l="l"/>
            <a:pathLst>
              <a:path h="556237" w="563278">
                <a:moveTo>
                  <a:pt x="0" y="0"/>
                </a:moveTo>
                <a:lnTo>
                  <a:pt x="563278" y="0"/>
                </a:lnTo>
                <a:lnTo>
                  <a:pt x="563278" y="556237"/>
                </a:lnTo>
                <a:lnTo>
                  <a:pt x="0" y="556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4" id="44"/>
          <p:cNvSpPr txBox="true"/>
          <p:nvPr/>
        </p:nvSpPr>
        <p:spPr>
          <a:xfrm rot="0">
            <a:off x="2593780" y="2621066"/>
            <a:ext cx="3304246" cy="44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784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BACKEND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56015" y="2686241"/>
            <a:ext cx="3355692" cy="4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79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FRONTEND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17473" y="7966982"/>
            <a:ext cx="3247558" cy="4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80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BASE DE DATOS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086216" y="3443955"/>
            <a:ext cx="2104778" cy="27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4"/>
              </a:lnSpc>
              <a:spcBef>
                <a:spcPct val="0"/>
              </a:spcBef>
            </a:pPr>
            <a:r>
              <a:rPr lang="en-US" b="true" sz="1784" strike="noStrike" u="non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Contabilidad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67775" y="8036454"/>
            <a:ext cx="3302059" cy="4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2779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DESPLIEGUE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634038" y="5618031"/>
            <a:ext cx="2982175" cy="104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3280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Tecnologías Usadas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98205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498205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0"/>
              <a:ext cx="308340" cy="311974"/>
              <a:chOff x="0" y="0"/>
              <a:chExt cx="60907" cy="6162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60907" cy="61624"/>
              </a:xfrm>
              <a:custGeom>
                <a:avLst/>
                <a:gdLst/>
                <a:ahLst/>
                <a:cxnLst/>
                <a:rect r="r" b="b" t="t" l="l"/>
                <a:pathLst>
                  <a:path h="61624" w="60907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2"/>
                  </a:lnSpc>
                </a:pPr>
              </a:p>
            </p:txBody>
          </p:sp>
        </p:grpSp>
      </p:grpSp>
      <p:sp>
        <p:nvSpPr>
          <p:cNvPr name="Freeform 63" id="63"/>
          <p:cNvSpPr/>
          <p:nvPr/>
        </p:nvSpPr>
        <p:spPr>
          <a:xfrm flipH="false" flipV="false" rot="0">
            <a:off x="7211636" y="1454127"/>
            <a:ext cx="4441771" cy="719820"/>
          </a:xfrm>
          <a:custGeom>
            <a:avLst/>
            <a:gdLst/>
            <a:ahLst/>
            <a:cxnLst/>
            <a:rect r="r" b="b" t="t" l="l"/>
            <a:pathLst>
              <a:path h="719820" w="4441771">
                <a:moveTo>
                  <a:pt x="0" y="0"/>
                </a:moveTo>
                <a:lnTo>
                  <a:pt x="4441771" y="0"/>
                </a:lnTo>
                <a:lnTo>
                  <a:pt x="4441771" y="719820"/>
                </a:lnTo>
                <a:lnTo>
                  <a:pt x="0" y="719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918" r="0" b="-37348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5760281" y="7966382"/>
            <a:ext cx="870021" cy="897209"/>
          </a:xfrm>
          <a:custGeom>
            <a:avLst/>
            <a:gdLst/>
            <a:ahLst/>
            <a:cxnLst/>
            <a:rect r="r" b="b" t="t" l="l"/>
            <a:pathLst>
              <a:path h="897209" w="870021">
                <a:moveTo>
                  <a:pt x="0" y="0"/>
                </a:moveTo>
                <a:lnTo>
                  <a:pt x="870021" y="0"/>
                </a:lnTo>
                <a:lnTo>
                  <a:pt x="870021" y="897209"/>
                </a:lnTo>
                <a:lnTo>
                  <a:pt x="0" y="897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5884918" y="2565990"/>
            <a:ext cx="909697" cy="909697"/>
          </a:xfrm>
          <a:custGeom>
            <a:avLst/>
            <a:gdLst/>
            <a:ahLst/>
            <a:cxnLst/>
            <a:rect r="r" b="b" t="t" l="l"/>
            <a:pathLst>
              <a:path h="909697" w="909697">
                <a:moveTo>
                  <a:pt x="0" y="0"/>
                </a:moveTo>
                <a:lnTo>
                  <a:pt x="909697" y="0"/>
                </a:lnTo>
                <a:lnTo>
                  <a:pt x="909697" y="909697"/>
                </a:lnTo>
                <a:lnTo>
                  <a:pt x="0" y="9096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1529934" y="2600846"/>
            <a:ext cx="890395" cy="936362"/>
          </a:xfrm>
          <a:custGeom>
            <a:avLst/>
            <a:gdLst/>
            <a:ahLst/>
            <a:cxnLst/>
            <a:rect r="r" b="b" t="t" l="l"/>
            <a:pathLst>
              <a:path h="936362" w="890395">
                <a:moveTo>
                  <a:pt x="0" y="0"/>
                </a:moveTo>
                <a:lnTo>
                  <a:pt x="890395" y="0"/>
                </a:lnTo>
                <a:lnTo>
                  <a:pt x="890395" y="936362"/>
                </a:lnTo>
                <a:lnTo>
                  <a:pt x="0" y="9363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1511766" y="7966382"/>
            <a:ext cx="908563" cy="908563"/>
          </a:xfrm>
          <a:custGeom>
            <a:avLst/>
            <a:gdLst/>
            <a:ahLst/>
            <a:cxnLst/>
            <a:rect r="r" b="b" t="t" l="l"/>
            <a:pathLst>
              <a:path h="908563" w="908563">
                <a:moveTo>
                  <a:pt x="0" y="0"/>
                </a:moveTo>
                <a:lnTo>
                  <a:pt x="908563" y="0"/>
                </a:lnTo>
                <a:lnTo>
                  <a:pt x="908563" y="908563"/>
                </a:lnTo>
                <a:lnTo>
                  <a:pt x="0" y="9085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3003796" y="2945202"/>
            <a:ext cx="2596902" cy="48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b="true" sz="236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Python/Fast Api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231734" y="8378897"/>
            <a:ext cx="1811089" cy="48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b="true" sz="236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PostgreSQL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645072" y="3074333"/>
            <a:ext cx="2777579" cy="48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b="true" sz="236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A</a:t>
            </a:r>
            <a:r>
              <a:rPr lang="en-US" b="true" sz="236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ngular - Tailwind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597521" y="8427309"/>
            <a:ext cx="2872680" cy="48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b="true" sz="236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Cl</a:t>
            </a:r>
            <a:r>
              <a:rPr lang="en-US" b="true" sz="236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oud Run/GCloud</a:t>
            </a:r>
          </a:p>
        </p:txBody>
      </p:sp>
      <p:sp>
        <p:nvSpPr>
          <p:cNvPr name="Freeform 72" id="72"/>
          <p:cNvSpPr/>
          <p:nvPr/>
        </p:nvSpPr>
        <p:spPr>
          <a:xfrm flipH="false" flipV="false" rot="0">
            <a:off x="8460546" y="4042304"/>
            <a:ext cx="1329158" cy="1560655"/>
          </a:xfrm>
          <a:custGeom>
            <a:avLst/>
            <a:gdLst/>
            <a:ahLst/>
            <a:cxnLst/>
            <a:rect r="r" b="b" t="t" l="l"/>
            <a:pathLst>
              <a:path h="1560655" w="1329158">
                <a:moveTo>
                  <a:pt x="0" y="0"/>
                </a:moveTo>
                <a:lnTo>
                  <a:pt x="1329159" y="0"/>
                </a:lnTo>
                <a:lnTo>
                  <a:pt x="1329159" y="1560655"/>
                </a:lnTo>
                <a:lnTo>
                  <a:pt x="0" y="15606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869" y="1361818"/>
            <a:ext cx="17210620" cy="8734389"/>
          </a:xfrm>
          <a:custGeom>
            <a:avLst/>
            <a:gdLst/>
            <a:ahLst/>
            <a:cxnLst/>
            <a:rect r="r" b="b" t="t" l="l"/>
            <a:pathLst>
              <a:path h="8734389" w="17210620">
                <a:moveTo>
                  <a:pt x="0" y="0"/>
                </a:moveTo>
                <a:lnTo>
                  <a:pt x="17210620" y="0"/>
                </a:lnTo>
                <a:lnTo>
                  <a:pt x="17210620" y="8734390"/>
                </a:lnTo>
                <a:lnTo>
                  <a:pt x="0" y="8734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90914" y="81589"/>
            <a:ext cx="14338529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Diagrama de Arquitectura del Sistema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4343" y="9720592"/>
            <a:ext cx="2536026" cy="0"/>
          </a:xfrm>
          <a:prstGeom prst="line">
            <a:avLst/>
          </a:prstGeom>
          <a:ln cap="flat" w="47625">
            <a:solidFill>
              <a:srgbClr val="45B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7058098" y="9720592"/>
            <a:ext cx="2791357" cy="0"/>
          </a:xfrm>
          <a:prstGeom prst="line">
            <a:avLst/>
          </a:prstGeom>
          <a:ln cap="flat" w="47625">
            <a:solidFill>
              <a:srgbClr val="45B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24910"/>
            <a:ext cx="785484" cy="747963"/>
          </a:xfrm>
          <a:custGeom>
            <a:avLst/>
            <a:gdLst/>
            <a:ahLst/>
            <a:cxnLst/>
            <a:rect r="r" b="b" t="t" l="l"/>
            <a:pathLst>
              <a:path h="747963" w="785484">
                <a:moveTo>
                  <a:pt x="0" y="0"/>
                </a:moveTo>
                <a:lnTo>
                  <a:pt x="785484" y="0"/>
                </a:lnTo>
                <a:lnTo>
                  <a:pt x="785484" y="747964"/>
                </a:lnTo>
                <a:lnTo>
                  <a:pt x="0" y="747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20544" y="9359616"/>
            <a:ext cx="648926" cy="6489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60306" y="0"/>
            <a:ext cx="5627694" cy="10287000"/>
            <a:chOff x="0" y="0"/>
            <a:chExt cx="1306207" cy="2387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6207" cy="2387647"/>
            </a:xfrm>
            <a:custGeom>
              <a:avLst/>
              <a:gdLst/>
              <a:ahLst/>
              <a:cxnLst/>
              <a:rect r="r" b="b" t="t" l="l"/>
              <a:pathLst>
                <a:path h="2387647" w="1306207">
                  <a:moveTo>
                    <a:pt x="0" y="0"/>
                  </a:moveTo>
                  <a:lnTo>
                    <a:pt x="1306207" y="0"/>
                  </a:lnTo>
                  <a:lnTo>
                    <a:pt x="1306207" y="2387647"/>
                  </a:lnTo>
                  <a:lnTo>
                    <a:pt x="0" y="2387647"/>
                  </a:lnTo>
                  <a:close/>
                </a:path>
              </a:pathLst>
            </a:custGeom>
            <a:solidFill>
              <a:srgbClr val="45B9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06207" cy="2425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60306" y="0"/>
            <a:ext cx="5627694" cy="10287000"/>
            <a:chOff x="0" y="0"/>
            <a:chExt cx="871877" cy="1593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1877" cy="1593725"/>
            </a:xfrm>
            <a:custGeom>
              <a:avLst/>
              <a:gdLst/>
              <a:ahLst/>
              <a:cxnLst/>
              <a:rect r="r" b="b" t="t" l="l"/>
              <a:pathLst>
                <a:path h="1593725" w="871877">
                  <a:moveTo>
                    <a:pt x="0" y="0"/>
                  </a:moveTo>
                  <a:lnTo>
                    <a:pt x="871877" y="0"/>
                  </a:lnTo>
                  <a:lnTo>
                    <a:pt x="87187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>
                <a:alphaModFix amt="31000"/>
              </a:blip>
              <a:stretch>
                <a:fillRect l="-86031" t="0" r="-8603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16914" y="213089"/>
            <a:ext cx="7542386" cy="75423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4906" r="0" b="-24906"/>
              </a:stretch>
            </a:blipFill>
            <a:ln w="3810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03736" y="1866664"/>
            <a:ext cx="8140264" cy="156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04"/>
              </a:lnSpc>
              <a:spcBef>
                <a:spcPct val="0"/>
              </a:spcBef>
            </a:pPr>
            <a:r>
              <a:rPr lang="en-US" b="true" sz="778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Plan de Pruebas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44343" y="1123889"/>
            <a:ext cx="1051561" cy="1234710"/>
          </a:xfrm>
          <a:custGeom>
            <a:avLst/>
            <a:gdLst/>
            <a:ahLst/>
            <a:cxnLst/>
            <a:rect r="r" b="b" t="t" l="l"/>
            <a:pathLst>
              <a:path h="1234710" w="1051561">
                <a:moveTo>
                  <a:pt x="0" y="0"/>
                </a:moveTo>
                <a:lnTo>
                  <a:pt x="1051562" y="0"/>
                </a:lnTo>
                <a:lnTo>
                  <a:pt x="1051562" y="1234710"/>
                </a:lnTo>
                <a:lnTo>
                  <a:pt x="0" y="1234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02617" y="3552954"/>
            <a:ext cx="9666854" cy="5583803"/>
            <a:chOff x="0" y="0"/>
            <a:chExt cx="2246057" cy="1297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6057" cy="1297376"/>
            </a:xfrm>
            <a:custGeom>
              <a:avLst/>
              <a:gdLst/>
              <a:ahLst/>
              <a:cxnLst/>
              <a:rect r="r" b="b" t="t" l="l"/>
              <a:pathLst>
                <a:path h="1297376" w="2246057">
                  <a:moveTo>
                    <a:pt x="23225" y="0"/>
                  </a:moveTo>
                  <a:lnTo>
                    <a:pt x="2222832" y="0"/>
                  </a:lnTo>
                  <a:cubicBezTo>
                    <a:pt x="2228991" y="0"/>
                    <a:pt x="2234899" y="2447"/>
                    <a:pt x="2239255" y="6803"/>
                  </a:cubicBezTo>
                  <a:cubicBezTo>
                    <a:pt x="2243610" y="11158"/>
                    <a:pt x="2246057" y="17066"/>
                    <a:pt x="2246057" y="23225"/>
                  </a:cubicBezTo>
                  <a:lnTo>
                    <a:pt x="2246057" y="1274150"/>
                  </a:lnTo>
                  <a:cubicBezTo>
                    <a:pt x="2246057" y="1280310"/>
                    <a:pt x="2243610" y="1286218"/>
                    <a:pt x="2239255" y="1290573"/>
                  </a:cubicBezTo>
                  <a:cubicBezTo>
                    <a:pt x="2234899" y="1294929"/>
                    <a:pt x="2228991" y="1297376"/>
                    <a:pt x="2222832" y="1297376"/>
                  </a:cubicBezTo>
                  <a:lnTo>
                    <a:pt x="23225" y="1297376"/>
                  </a:lnTo>
                  <a:cubicBezTo>
                    <a:pt x="17066" y="1297376"/>
                    <a:pt x="11158" y="1294929"/>
                    <a:pt x="6803" y="1290573"/>
                  </a:cubicBezTo>
                  <a:cubicBezTo>
                    <a:pt x="2447" y="1286218"/>
                    <a:pt x="0" y="1280310"/>
                    <a:pt x="0" y="1274150"/>
                  </a:cubicBezTo>
                  <a:lnTo>
                    <a:pt x="0" y="23225"/>
                  </a:lnTo>
                  <a:cubicBezTo>
                    <a:pt x="0" y="17066"/>
                    <a:pt x="2447" y="11158"/>
                    <a:pt x="6803" y="6803"/>
                  </a:cubicBezTo>
                  <a:cubicBezTo>
                    <a:pt x="11158" y="2447"/>
                    <a:pt x="17066" y="0"/>
                    <a:pt x="23225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2246057" cy="1421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012475" y="1247771"/>
            <a:ext cx="4441771" cy="719820"/>
          </a:xfrm>
          <a:custGeom>
            <a:avLst/>
            <a:gdLst/>
            <a:ahLst/>
            <a:cxnLst/>
            <a:rect r="r" b="b" t="t" l="l"/>
            <a:pathLst>
              <a:path h="719820" w="4441771">
                <a:moveTo>
                  <a:pt x="0" y="0"/>
                </a:moveTo>
                <a:lnTo>
                  <a:pt x="4441771" y="0"/>
                </a:lnTo>
                <a:lnTo>
                  <a:pt x="4441771" y="719819"/>
                </a:lnTo>
                <a:lnTo>
                  <a:pt x="0" y="7198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918" r="0" b="-37348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39432" y="3637476"/>
            <a:ext cx="9393224" cy="5414759"/>
          </a:xfrm>
          <a:custGeom>
            <a:avLst/>
            <a:gdLst/>
            <a:ahLst/>
            <a:cxnLst/>
            <a:rect r="r" b="b" t="t" l="l"/>
            <a:pathLst>
              <a:path h="5414759" w="9393224">
                <a:moveTo>
                  <a:pt x="0" y="0"/>
                </a:moveTo>
                <a:lnTo>
                  <a:pt x="9393224" y="0"/>
                </a:lnTo>
                <a:lnTo>
                  <a:pt x="9393224" y="5414759"/>
                </a:lnTo>
                <a:lnTo>
                  <a:pt x="0" y="541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500" r="0" b="-150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280370" y="9452865"/>
            <a:ext cx="3753935" cy="39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  <a:spcBef>
                <a:spcPct val="0"/>
              </a:spcBef>
            </a:pPr>
            <a:r>
              <a:rPr lang="en-US" b="true" sz="2319">
                <a:solidFill>
                  <a:srgbClr val="191716"/>
                </a:solidFill>
                <a:latin typeface="Gotham Bold"/>
                <a:ea typeface="Gotham Bold"/>
                <a:cs typeface="Gotham Bold"/>
                <a:sym typeface="Gotham Bold"/>
              </a:rPr>
              <a:t>www.unidadterritorial.cl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83397" y="1338303"/>
            <a:ext cx="1903593" cy="80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277"/>
              </a:lnSpc>
              <a:spcBef>
                <a:spcPct val="0"/>
              </a:spcBef>
            </a:pPr>
            <a:r>
              <a:rPr lang="en-US" b="true" sz="2244" spc="67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Unidad Territorial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2" r="0" b="-97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698" y="3408354"/>
            <a:ext cx="5967919" cy="5849946"/>
            <a:chOff x="0" y="0"/>
            <a:chExt cx="1571798" cy="1540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1798" cy="1540726"/>
            </a:xfrm>
            <a:custGeom>
              <a:avLst/>
              <a:gdLst/>
              <a:ahLst/>
              <a:cxnLst/>
              <a:rect r="r" b="b" t="t" l="l"/>
              <a:pathLst>
                <a:path h="1540726" w="1571798">
                  <a:moveTo>
                    <a:pt x="37620" y="0"/>
                  </a:moveTo>
                  <a:lnTo>
                    <a:pt x="1534177" y="0"/>
                  </a:lnTo>
                  <a:cubicBezTo>
                    <a:pt x="1544155" y="0"/>
                    <a:pt x="1553724" y="3964"/>
                    <a:pt x="1560779" y="11019"/>
                  </a:cubicBezTo>
                  <a:cubicBezTo>
                    <a:pt x="1567834" y="18074"/>
                    <a:pt x="1571798" y="27643"/>
                    <a:pt x="1571798" y="37620"/>
                  </a:cubicBezTo>
                  <a:lnTo>
                    <a:pt x="1571798" y="1503106"/>
                  </a:lnTo>
                  <a:cubicBezTo>
                    <a:pt x="1571798" y="1513084"/>
                    <a:pt x="1567834" y="1522653"/>
                    <a:pt x="1560779" y="1529708"/>
                  </a:cubicBezTo>
                  <a:cubicBezTo>
                    <a:pt x="1553724" y="1536763"/>
                    <a:pt x="1544155" y="1540726"/>
                    <a:pt x="1534177" y="1540726"/>
                  </a:cubicBezTo>
                  <a:lnTo>
                    <a:pt x="37620" y="1540726"/>
                  </a:lnTo>
                  <a:cubicBezTo>
                    <a:pt x="27643" y="1540726"/>
                    <a:pt x="18074" y="1536763"/>
                    <a:pt x="11019" y="1529708"/>
                  </a:cubicBezTo>
                  <a:cubicBezTo>
                    <a:pt x="3964" y="1522653"/>
                    <a:pt x="0" y="1513084"/>
                    <a:pt x="0" y="1503106"/>
                  </a:cubicBezTo>
                  <a:lnTo>
                    <a:pt x="0" y="37620"/>
                  </a:lnTo>
                  <a:cubicBezTo>
                    <a:pt x="0" y="27643"/>
                    <a:pt x="3964" y="18074"/>
                    <a:pt x="11019" y="11019"/>
                  </a:cubicBezTo>
                  <a:cubicBezTo>
                    <a:pt x="18074" y="3964"/>
                    <a:pt x="27643" y="0"/>
                    <a:pt x="37620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571798" cy="1664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88842" y="3435494"/>
            <a:ext cx="11855129" cy="5795665"/>
            <a:chOff x="0" y="0"/>
            <a:chExt cx="3122338" cy="1526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2338" cy="1526430"/>
            </a:xfrm>
            <a:custGeom>
              <a:avLst/>
              <a:gdLst/>
              <a:ahLst/>
              <a:cxnLst/>
              <a:rect r="r" b="b" t="t" l="l"/>
              <a:pathLst>
                <a:path h="1526430" w="3122338">
                  <a:moveTo>
                    <a:pt x="18938" y="0"/>
                  </a:moveTo>
                  <a:lnTo>
                    <a:pt x="3103400" y="0"/>
                  </a:lnTo>
                  <a:cubicBezTo>
                    <a:pt x="3113859" y="0"/>
                    <a:pt x="3122338" y="8479"/>
                    <a:pt x="3122338" y="18938"/>
                  </a:cubicBezTo>
                  <a:lnTo>
                    <a:pt x="3122338" y="1507492"/>
                  </a:lnTo>
                  <a:cubicBezTo>
                    <a:pt x="3122338" y="1517951"/>
                    <a:pt x="3113859" y="1526430"/>
                    <a:pt x="3103400" y="1526430"/>
                  </a:cubicBezTo>
                  <a:lnTo>
                    <a:pt x="18938" y="1526430"/>
                  </a:lnTo>
                  <a:cubicBezTo>
                    <a:pt x="8479" y="1526430"/>
                    <a:pt x="0" y="1517951"/>
                    <a:pt x="0" y="1507492"/>
                  </a:cubicBezTo>
                  <a:lnTo>
                    <a:pt x="0" y="18938"/>
                  </a:lnTo>
                  <a:cubicBezTo>
                    <a:pt x="0" y="8479"/>
                    <a:pt x="8479" y="0"/>
                    <a:pt x="18938" y="0"/>
                  </a:cubicBezTo>
                  <a:close/>
                </a:path>
              </a:pathLst>
            </a:custGeom>
            <a:solidFill>
              <a:srgbClr val="332B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3122338" cy="1650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02550" y="3550463"/>
            <a:ext cx="5688451" cy="5526540"/>
          </a:xfrm>
          <a:custGeom>
            <a:avLst/>
            <a:gdLst/>
            <a:ahLst/>
            <a:cxnLst/>
            <a:rect r="r" b="b" t="t" l="l"/>
            <a:pathLst>
              <a:path h="5526540" w="5688451">
                <a:moveTo>
                  <a:pt x="0" y="0"/>
                </a:moveTo>
                <a:lnTo>
                  <a:pt x="5688451" y="0"/>
                </a:lnTo>
                <a:lnTo>
                  <a:pt x="5688451" y="5526540"/>
                </a:lnTo>
                <a:lnTo>
                  <a:pt x="0" y="5526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3648" y="3616370"/>
            <a:ext cx="11625517" cy="5433914"/>
          </a:xfrm>
          <a:custGeom>
            <a:avLst/>
            <a:gdLst/>
            <a:ahLst/>
            <a:cxnLst/>
            <a:rect r="r" b="b" t="t" l="l"/>
            <a:pathLst>
              <a:path h="5433914" w="11625517">
                <a:moveTo>
                  <a:pt x="0" y="0"/>
                </a:moveTo>
                <a:lnTo>
                  <a:pt x="11625516" y="0"/>
                </a:lnTo>
                <a:lnTo>
                  <a:pt x="11625516" y="5433914"/>
                </a:lnTo>
                <a:lnTo>
                  <a:pt x="0" y="5433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9" t="0" r="-25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88491" y="-80678"/>
            <a:ext cx="10238761" cy="110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b="true" sz="5519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Evidencias Plan de Pruebas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91277" y="1207142"/>
            <a:ext cx="13119292" cy="144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b="true" sz="1965" spc="58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ERROR: El sistema permite volver a mandar petición de registro a un usuario que ya esta registrado.</a:t>
            </a:r>
          </a:p>
          <a:p>
            <a:pPr algn="ctr">
              <a:lnSpc>
                <a:spcPts val="2869"/>
              </a:lnSpc>
            </a:pPr>
            <a:r>
              <a:rPr lang="en-US" b="true" sz="1965" spc="58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MTC_00210: Intento de registro con un Email ya existente</a:t>
            </a:r>
          </a:p>
          <a:p>
            <a:pPr algn="ctr">
              <a:lnSpc>
                <a:spcPts val="286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707" y="-297999"/>
            <a:ext cx="3307479" cy="10584999"/>
            <a:chOff x="0" y="0"/>
            <a:chExt cx="871106" cy="2787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106" cy="2787819"/>
            </a:xfrm>
            <a:custGeom>
              <a:avLst/>
              <a:gdLst/>
              <a:ahLst/>
              <a:cxnLst/>
              <a:rect r="r" b="b" t="t" l="l"/>
              <a:pathLst>
                <a:path h="2787819" w="871106">
                  <a:moveTo>
                    <a:pt x="0" y="0"/>
                  </a:moveTo>
                  <a:lnTo>
                    <a:pt x="871106" y="0"/>
                  </a:lnTo>
                  <a:lnTo>
                    <a:pt x="871106" y="2787819"/>
                  </a:lnTo>
                  <a:lnTo>
                    <a:pt x="0" y="2787819"/>
                  </a:lnTo>
                  <a:close/>
                </a:path>
              </a:pathLst>
            </a:custGeom>
            <a:solidFill>
              <a:srgbClr val="E7E9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71106" cy="2902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00607" y="3527406"/>
            <a:ext cx="1673745" cy="5271399"/>
            <a:chOff x="0" y="0"/>
            <a:chExt cx="440822" cy="13883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0822" cy="1388352"/>
            </a:xfrm>
            <a:custGeom>
              <a:avLst/>
              <a:gdLst/>
              <a:ahLst/>
              <a:cxnLst/>
              <a:rect r="r" b="b" t="t" l="l"/>
              <a:pathLst>
                <a:path h="1388352" w="440822">
                  <a:moveTo>
                    <a:pt x="124889" y="0"/>
                  </a:moveTo>
                  <a:lnTo>
                    <a:pt x="315933" y="0"/>
                  </a:lnTo>
                  <a:cubicBezTo>
                    <a:pt x="384907" y="0"/>
                    <a:pt x="440822" y="55915"/>
                    <a:pt x="440822" y="124889"/>
                  </a:cubicBezTo>
                  <a:lnTo>
                    <a:pt x="440822" y="1263463"/>
                  </a:lnTo>
                  <a:cubicBezTo>
                    <a:pt x="440822" y="1332437"/>
                    <a:pt x="384907" y="1388352"/>
                    <a:pt x="315933" y="1388352"/>
                  </a:cubicBezTo>
                  <a:lnTo>
                    <a:pt x="124889" y="1388352"/>
                  </a:lnTo>
                  <a:cubicBezTo>
                    <a:pt x="55915" y="1388352"/>
                    <a:pt x="0" y="1332437"/>
                    <a:pt x="0" y="1263463"/>
                  </a:cubicBezTo>
                  <a:lnTo>
                    <a:pt x="0" y="124889"/>
                  </a:lnTo>
                  <a:cubicBezTo>
                    <a:pt x="0" y="55915"/>
                    <a:pt x="55915" y="0"/>
                    <a:pt x="124889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0822" cy="142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5400000">
            <a:off x="15991049" y="8382344"/>
            <a:ext cx="1277100" cy="1260846"/>
          </a:xfrm>
          <a:custGeom>
            <a:avLst/>
            <a:gdLst/>
            <a:ahLst/>
            <a:cxnLst/>
            <a:rect r="r" b="b" t="t" l="l"/>
            <a:pathLst>
              <a:path h="1260846" w="1277100">
                <a:moveTo>
                  <a:pt x="0" y="1260846"/>
                </a:moveTo>
                <a:lnTo>
                  <a:pt x="1277101" y="1260846"/>
                </a:lnTo>
                <a:lnTo>
                  <a:pt x="1277101" y="0"/>
                </a:lnTo>
                <a:lnTo>
                  <a:pt x="0" y="0"/>
                </a:lnTo>
                <a:lnTo>
                  <a:pt x="0" y="1260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716095" y="3931345"/>
            <a:ext cx="842767" cy="877882"/>
          </a:xfrm>
          <a:custGeom>
            <a:avLst/>
            <a:gdLst/>
            <a:ahLst/>
            <a:cxnLst/>
            <a:rect r="r" b="b" t="t" l="l"/>
            <a:pathLst>
              <a:path h="877882" w="842767">
                <a:moveTo>
                  <a:pt x="0" y="0"/>
                </a:moveTo>
                <a:lnTo>
                  <a:pt x="842767" y="0"/>
                </a:lnTo>
                <a:lnTo>
                  <a:pt x="842767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94511" y="7338411"/>
            <a:ext cx="885936" cy="877882"/>
          </a:xfrm>
          <a:custGeom>
            <a:avLst/>
            <a:gdLst/>
            <a:ahLst/>
            <a:cxnLst/>
            <a:rect r="r" b="b" t="t" l="l"/>
            <a:pathLst>
              <a:path h="877882" w="885936">
                <a:moveTo>
                  <a:pt x="0" y="0"/>
                </a:moveTo>
                <a:lnTo>
                  <a:pt x="885936" y="0"/>
                </a:lnTo>
                <a:lnTo>
                  <a:pt x="885936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16095" y="5724164"/>
            <a:ext cx="885936" cy="877882"/>
          </a:xfrm>
          <a:custGeom>
            <a:avLst/>
            <a:gdLst/>
            <a:ahLst/>
            <a:cxnLst/>
            <a:rect r="r" b="b" t="t" l="l"/>
            <a:pathLst>
              <a:path h="877882" w="885936">
                <a:moveTo>
                  <a:pt x="0" y="0"/>
                </a:moveTo>
                <a:lnTo>
                  <a:pt x="885937" y="0"/>
                </a:lnTo>
                <a:lnTo>
                  <a:pt x="885937" y="877883"/>
                </a:lnTo>
                <a:lnTo>
                  <a:pt x="0" y="8778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58862" y="1697860"/>
            <a:ext cx="4982485" cy="112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49"/>
              </a:lnSpc>
              <a:spcBef>
                <a:spcPct val="0"/>
              </a:spcBef>
            </a:pPr>
            <a:r>
              <a:rPr lang="en-US" b="true" sz="5584" strike="noStrike" u="none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Conclusiones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80447" y="2708100"/>
            <a:ext cx="10708784" cy="49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5"/>
              </a:lnSpc>
              <a:spcBef>
                <a:spcPct val="0"/>
              </a:spcBef>
            </a:pPr>
            <a:r>
              <a:rPr lang="en-US" b="true" sz="2512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Model</a:t>
            </a:r>
            <a:r>
              <a:rPr lang="en-US" b="true" sz="2512" strike="noStrike" u="none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o de negocio sólido con visión a largo plazo.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64642" y="3602329"/>
            <a:ext cx="11315364" cy="543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2068" spc="62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El desarr</a:t>
            </a:r>
            <a:r>
              <a:rPr lang="en-US" sz="2068" spc="62" strike="noStrike" u="none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ollo de Sistema Territorial no solo moderniza la administración vecinal, sino que propone una nueva forma de vincular tecnología y participación ciudadana, fomentando comunidades más organizadas, inclusivas y sostenibles. Su innovación reside en llevar herramientas tecnológicas —</a:t>
            </a:r>
            <a:r>
              <a:rPr lang="en-US" b="true" sz="2068" spc="62" strike="noStrike" u="none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antes reservadas a grandes organizaciones y privadas</a:t>
            </a:r>
            <a:r>
              <a:rPr lang="en-US" sz="2068" spc="62" strike="noStrike" u="none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— a un contexto social donde realmente generan impacto.</a:t>
            </a:r>
          </a:p>
          <a:p>
            <a:pPr algn="l">
              <a:lnSpc>
                <a:spcPts val="3020"/>
              </a:lnSpc>
            </a:pPr>
          </a:p>
          <a:p>
            <a:pPr algn="l">
              <a:lnSpc>
                <a:spcPts val="3020"/>
              </a:lnSpc>
            </a:pPr>
            <a:r>
              <a:rPr lang="en-US" sz="2068" spc="62" strike="noStrike" u="none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2068" spc="62" strike="noStrike" u="none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 principal valor de Sistema Territorial radica en su </a:t>
            </a:r>
            <a:r>
              <a:rPr lang="en-US" b="true" sz="2068" spc="62" strike="noStrike" u="none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carácter replicable y escalable:</a:t>
            </a:r>
            <a:r>
              <a:rPr lang="en-US" sz="2068" spc="62" strike="noStrike" u="none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puede adaptarse fácilmente a otras juntas de vecinos, municipalidades o comunidades de distinta escala sin requerir infraestructura compleja. Esta capacidad de replicación lo convierte en un modelo innovador de gestión local digital, con potencial de expansión a nivel comunal o regional.</a:t>
            </a:r>
          </a:p>
          <a:p>
            <a:pPr algn="l">
              <a:lnSpc>
                <a:spcPts val="2290"/>
              </a:lnSpc>
            </a:pPr>
          </a:p>
          <a:p>
            <a:pPr algn="l">
              <a:lnSpc>
                <a:spcPts val="2290"/>
              </a:lnSpc>
            </a:pPr>
          </a:p>
          <a:p>
            <a:pPr algn="l">
              <a:lnSpc>
                <a:spcPts val="2290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613256" y="1966751"/>
            <a:ext cx="1329158" cy="1560655"/>
          </a:xfrm>
          <a:custGeom>
            <a:avLst/>
            <a:gdLst/>
            <a:ahLst/>
            <a:cxnLst/>
            <a:rect r="r" b="b" t="t" l="l"/>
            <a:pathLst>
              <a:path h="1560655" w="1329158">
                <a:moveTo>
                  <a:pt x="0" y="0"/>
                </a:moveTo>
                <a:lnTo>
                  <a:pt x="1329158" y="0"/>
                </a:lnTo>
                <a:lnTo>
                  <a:pt x="1329158" y="1560655"/>
                </a:lnTo>
                <a:lnTo>
                  <a:pt x="0" y="15606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DAG1m4hRK3s</dc:identifier>
  <dcterms:modified xsi:type="dcterms:W3CDTF">2011-08-01T06:04:30Z</dcterms:modified>
  <cp:revision>1</cp:revision>
  <dc:title>Presentación Capstone</dc:title>
</cp:coreProperties>
</file>